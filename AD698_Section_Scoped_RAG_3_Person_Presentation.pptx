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17" autoAdjust="0"/>
    <p:restoredTop sz="94610"/>
  </p:normalViewPr>
  <p:slideViewPr>
    <p:cSldViewPr snapToGrid="0" snapToObjects="1">
      <p:cViewPr>
        <p:scale>
          <a:sx n="71" d="100"/>
          <a:sy n="71" d="100"/>
        </p:scale>
        <p:origin x="498" y="9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5963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presenters
Open the presentation by introducing the project: a section-scoped RAG system built over 2024 SEC 10-K filings. Emphasize the domain track and the four allowed SEC items: Item 6, Item 7, Item 7A, and Item 8.</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1 · Suleyman
Explain that the problem is not just answering financial questions, but answering them from the correct disclosure sections. The system is designed to enforce the regulatory boundary before the LLM sees the text.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1 · Suleyman
Walk through the four allowed SEC items and why each one belongs in the finance and risk scope. Then emphasize refusal: the system is designed not to answer questions that belong to Items outside the allow-list.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2 · Aston
Describe the architecture from left to right. Highlight that retrieval filtering happens before answer generation and that the final output is structured JSON with citations and refusal status.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2 · Aston
Explain that the raw SEC filings contain many artifacts. The pipeline turns them into clean, traceable chunks with metadata. This metadata is crucial for citations and section filtering later.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2 · Aston
Clarify that the word FAISS is not used in the actual implementation. The system stores embeddings in a NumPy matrix and uses cosine similarity. The hard filters are the important design choice: Item filtering and optional firm filtering prevent leakage and cross-firm contamination.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3 · Annabella
Explain the output contract and why it matters. The answer is not free-form; it must contain answer text, citations, and refused status. The refusal rule reduces unsupported financial claims.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3 · Annabella
Walk through the five evaluation dimensions. The key message is that we are not evaluating whether the answer sounds fluent. We evaluate whether it retrieves the right evidence, cites it, stays inside scope, and refuses weak evidence.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3 · Annabella
Close by summarizing the risks and why the design choices mitigate them. End with the three takeaways: retrieval boundary, exact citations, and refusal logic.</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AFC"/>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355B"/>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2355B"/>
          </a:solidFill>
          <a:ln w="12700">
            <a:solidFill>
              <a:srgbClr val="333333">
                <a:alpha val="0"/>
              </a:srgbClr>
            </a:solidFill>
            <a:prstDash val="solid"/>
          </a:ln>
        </p:spPr>
        <p:txBody>
          <a:bodyPr/>
          <a:lstStyle/>
          <a:p>
            <a:endParaRPr lang="zh-CN" altLang="en-US"/>
          </a:p>
        </p:txBody>
      </p:sp>
      <p:sp>
        <p:nvSpPr>
          <p:cNvPr id="3" name="Shape 1"/>
          <p:cNvSpPr/>
          <p:nvPr/>
        </p:nvSpPr>
        <p:spPr>
          <a:xfrm>
            <a:off x="7818120" y="1234440"/>
            <a:ext cx="2971800" cy="4069080"/>
          </a:xfrm>
          <a:prstGeom prst="roundRect">
            <a:avLst>
              <a:gd name="adj" fmla="val 2462"/>
            </a:avLst>
          </a:prstGeom>
          <a:solidFill>
            <a:srgbClr val="FFFFFF"/>
          </a:solidFill>
          <a:ln w="12700">
            <a:solidFill>
              <a:srgbClr val="DDEBF7"/>
            </a:solidFill>
            <a:prstDash val="solid"/>
          </a:ln>
        </p:spPr>
        <p:txBody>
          <a:bodyPr/>
          <a:lstStyle/>
          <a:p>
            <a:endParaRPr lang="zh-CN" altLang="en-US"/>
          </a:p>
        </p:txBody>
      </p:sp>
      <p:sp>
        <p:nvSpPr>
          <p:cNvPr id="4" name="Shape 2"/>
          <p:cNvSpPr/>
          <p:nvPr/>
        </p:nvSpPr>
        <p:spPr>
          <a:xfrm>
            <a:off x="8275320" y="1874520"/>
            <a:ext cx="1965960" cy="118872"/>
          </a:xfrm>
          <a:prstGeom prst="rect">
            <a:avLst/>
          </a:prstGeom>
          <a:solidFill>
            <a:srgbClr val="DDEBF7"/>
          </a:solidFill>
          <a:ln w="12700">
            <a:solidFill>
              <a:srgbClr val="333333">
                <a:alpha val="0"/>
              </a:srgbClr>
            </a:solidFill>
            <a:prstDash val="solid"/>
          </a:ln>
        </p:spPr>
        <p:txBody>
          <a:bodyPr/>
          <a:lstStyle/>
          <a:p>
            <a:endParaRPr lang="zh-CN" altLang="en-US"/>
          </a:p>
        </p:txBody>
      </p:sp>
      <p:sp>
        <p:nvSpPr>
          <p:cNvPr id="5" name="Shape 3"/>
          <p:cNvSpPr/>
          <p:nvPr/>
        </p:nvSpPr>
        <p:spPr>
          <a:xfrm>
            <a:off x="8275320" y="2221992"/>
            <a:ext cx="1508760" cy="118872"/>
          </a:xfrm>
          <a:prstGeom prst="rect">
            <a:avLst/>
          </a:prstGeom>
          <a:solidFill>
            <a:srgbClr val="DDEBF7"/>
          </a:solidFill>
          <a:ln w="12700">
            <a:solidFill>
              <a:srgbClr val="333333">
                <a:alpha val="0"/>
              </a:srgbClr>
            </a:solidFill>
            <a:prstDash val="solid"/>
          </a:ln>
        </p:spPr>
        <p:txBody>
          <a:bodyPr/>
          <a:lstStyle/>
          <a:p>
            <a:endParaRPr lang="zh-CN" altLang="en-US"/>
          </a:p>
        </p:txBody>
      </p:sp>
      <p:sp>
        <p:nvSpPr>
          <p:cNvPr id="6" name="Shape 4"/>
          <p:cNvSpPr/>
          <p:nvPr/>
        </p:nvSpPr>
        <p:spPr>
          <a:xfrm>
            <a:off x="8275320" y="2569464"/>
            <a:ext cx="2057400" cy="118872"/>
          </a:xfrm>
          <a:prstGeom prst="rect">
            <a:avLst/>
          </a:prstGeom>
          <a:solidFill>
            <a:srgbClr val="DDEBF7"/>
          </a:solidFill>
          <a:ln w="12700">
            <a:solidFill>
              <a:srgbClr val="333333">
                <a:alpha val="0"/>
              </a:srgbClr>
            </a:solidFill>
            <a:prstDash val="solid"/>
          </a:ln>
        </p:spPr>
        <p:txBody>
          <a:bodyPr/>
          <a:lstStyle/>
          <a:p>
            <a:endParaRPr lang="zh-CN" altLang="en-US"/>
          </a:p>
        </p:txBody>
      </p:sp>
      <p:sp>
        <p:nvSpPr>
          <p:cNvPr id="7" name="Text 5"/>
          <p:cNvSpPr/>
          <p:nvPr/>
        </p:nvSpPr>
        <p:spPr>
          <a:xfrm>
            <a:off x="8430768" y="3401568"/>
            <a:ext cx="1783080" cy="502920"/>
          </a:xfrm>
          <a:prstGeom prst="rect">
            <a:avLst/>
          </a:prstGeom>
          <a:noFill/>
          <a:ln/>
        </p:spPr>
        <p:txBody>
          <a:bodyPr wrap="square" lIns="0" tIns="0" rIns="0" bIns="0" rtlCol="0" anchor="ctr"/>
          <a:lstStyle/>
          <a:p>
            <a:pPr marL="0" indent="0" algn="ctr">
              <a:buNone/>
            </a:pPr>
            <a:r>
              <a:rPr lang="en-US" sz="3400" b="1" dirty="0">
                <a:solidFill>
                  <a:srgbClr val="1F4E79"/>
                </a:solidFill>
              </a:rPr>
              <a:t>10-K</a:t>
            </a:r>
            <a:endParaRPr lang="en-US" sz="3400" dirty="0"/>
          </a:p>
        </p:txBody>
      </p:sp>
      <p:sp>
        <p:nvSpPr>
          <p:cNvPr id="8" name="Text 6"/>
          <p:cNvSpPr/>
          <p:nvPr/>
        </p:nvSpPr>
        <p:spPr>
          <a:xfrm>
            <a:off x="685800" y="1234440"/>
            <a:ext cx="5852160" cy="1280160"/>
          </a:xfrm>
          <a:prstGeom prst="rect">
            <a:avLst/>
          </a:prstGeom>
          <a:noFill/>
          <a:ln/>
        </p:spPr>
        <p:txBody>
          <a:bodyPr wrap="square" lIns="0" tIns="0" rIns="0" bIns="0" rtlCol="0" anchor="ctr"/>
          <a:lstStyle/>
          <a:p>
            <a:pPr marL="0" indent="0">
              <a:buNone/>
            </a:pPr>
            <a:r>
              <a:rPr lang="en-US" sz="3600" b="1" dirty="0">
                <a:solidFill>
                  <a:srgbClr val="FFFFFF"/>
                </a:solidFill>
                <a:latin typeface="Aptos Display" pitchFamily="34" charset="0"/>
                <a:ea typeface="Aptos Display" pitchFamily="34" charset="-122"/>
                <a:cs typeface="Aptos Display" pitchFamily="34" charset="-120"/>
              </a:rPr>
              <a:t>Section-Scoped RAG</a:t>
            </a:r>
            <a:endParaRPr lang="en-US" sz="3600" dirty="0"/>
          </a:p>
          <a:p>
            <a:pPr marL="0" indent="0">
              <a:buNone/>
            </a:pPr>
            <a:r>
              <a:rPr lang="en-US" sz="3600" b="1" dirty="0">
                <a:solidFill>
                  <a:srgbClr val="FFFFFF"/>
                </a:solidFill>
                <a:latin typeface="Aptos Display" pitchFamily="34" charset="0"/>
                <a:ea typeface="Aptos Display" pitchFamily="34" charset="-122"/>
                <a:cs typeface="Aptos Display" pitchFamily="34" charset="-120"/>
              </a:rPr>
              <a:t>over SEC 10-K (2024)</a:t>
            </a:r>
            <a:endParaRPr lang="en-US" sz="3600" dirty="0"/>
          </a:p>
        </p:txBody>
      </p:sp>
      <p:sp>
        <p:nvSpPr>
          <p:cNvPr id="9" name="Text 7"/>
          <p:cNvSpPr/>
          <p:nvPr/>
        </p:nvSpPr>
        <p:spPr>
          <a:xfrm>
            <a:off x="731520" y="2761488"/>
            <a:ext cx="5303520" cy="320040"/>
          </a:xfrm>
          <a:prstGeom prst="rect">
            <a:avLst/>
          </a:prstGeom>
          <a:noFill/>
          <a:ln/>
        </p:spPr>
        <p:txBody>
          <a:bodyPr wrap="square" lIns="0" tIns="0" rIns="0" bIns="0" rtlCol="0" anchor="ctr"/>
          <a:lstStyle/>
          <a:p>
            <a:pPr marL="0" indent="0">
              <a:buNone/>
            </a:pPr>
            <a:r>
              <a:rPr lang="en-US" sz="1700" dirty="0">
                <a:solidFill>
                  <a:srgbClr val="DDEBF7"/>
                </a:solidFill>
              </a:rPr>
              <a:t>Financial Performance &amp; Risk Analysis Track</a:t>
            </a:r>
            <a:endParaRPr lang="en-US" sz="1700" dirty="0"/>
          </a:p>
        </p:txBody>
      </p:sp>
      <p:sp>
        <p:nvSpPr>
          <p:cNvPr id="10" name="Shape 8"/>
          <p:cNvSpPr/>
          <p:nvPr/>
        </p:nvSpPr>
        <p:spPr>
          <a:xfrm>
            <a:off x="731520" y="3383280"/>
            <a:ext cx="2331720" cy="310896"/>
          </a:xfrm>
          <a:prstGeom prst="roundRect">
            <a:avLst>
              <a:gd name="adj" fmla="val 20588"/>
            </a:avLst>
          </a:prstGeom>
          <a:solidFill>
            <a:srgbClr val="0F766E"/>
          </a:solidFill>
          <a:ln w="12700">
            <a:solidFill>
              <a:srgbClr val="333333">
                <a:alpha val="0"/>
              </a:srgbClr>
            </a:solidFill>
            <a:prstDash val="solid"/>
          </a:ln>
        </p:spPr>
        <p:txBody>
          <a:bodyPr/>
          <a:lstStyle/>
          <a:p>
            <a:endParaRPr lang="zh-CN" altLang="en-US"/>
          </a:p>
        </p:txBody>
      </p:sp>
      <p:sp>
        <p:nvSpPr>
          <p:cNvPr id="11" name="Text 9"/>
          <p:cNvSpPr/>
          <p:nvPr/>
        </p:nvSpPr>
        <p:spPr>
          <a:xfrm>
            <a:off x="804672" y="3451860"/>
            <a:ext cx="2185416" cy="137160"/>
          </a:xfrm>
          <a:prstGeom prst="rect">
            <a:avLst/>
          </a:prstGeom>
          <a:noFill/>
          <a:ln/>
        </p:spPr>
        <p:txBody>
          <a:bodyPr wrap="square" lIns="0" tIns="0" rIns="0" bIns="0" rtlCol="0" anchor="ctr"/>
          <a:lstStyle/>
          <a:p>
            <a:pPr marL="0" indent="0" algn="ctr">
              <a:buNone/>
            </a:pPr>
            <a:r>
              <a:rPr lang="en-US" sz="950" b="1" dirty="0">
                <a:solidFill>
                  <a:srgbClr val="FFFFFF"/>
                </a:solidFill>
              </a:rPr>
              <a:t>Items 6 · 7 · 7A · 8</a:t>
            </a:r>
            <a:endParaRPr lang="en-US" sz="950" dirty="0"/>
          </a:p>
        </p:txBody>
      </p:sp>
      <p:sp>
        <p:nvSpPr>
          <p:cNvPr id="12" name="Shape 10"/>
          <p:cNvSpPr/>
          <p:nvPr/>
        </p:nvSpPr>
        <p:spPr>
          <a:xfrm>
            <a:off x="3246120" y="3383280"/>
            <a:ext cx="1965960" cy="310896"/>
          </a:xfrm>
          <a:prstGeom prst="roundRect">
            <a:avLst>
              <a:gd name="adj" fmla="val 20588"/>
            </a:avLst>
          </a:prstGeom>
          <a:solidFill>
            <a:srgbClr val="1F4E79"/>
          </a:solidFill>
          <a:ln w="12700">
            <a:solidFill>
              <a:srgbClr val="333333">
                <a:alpha val="0"/>
              </a:srgbClr>
            </a:solidFill>
            <a:prstDash val="solid"/>
          </a:ln>
        </p:spPr>
        <p:txBody>
          <a:bodyPr/>
          <a:lstStyle/>
          <a:p>
            <a:endParaRPr lang="zh-CN" altLang="en-US"/>
          </a:p>
        </p:txBody>
      </p:sp>
      <p:sp>
        <p:nvSpPr>
          <p:cNvPr id="13" name="Text 11"/>
          <p:cNvSpPr/>
          <p:nvPr/>
        </p:nvSpPr>
        <p:spPr>
          <a:xfrm>
            <a:off x="3319272" y="3451860"/>
            <a:ext cx="1819656" cy="137160"/>
          </a:xfrm>
          <a:prstGeom prst="rect">
            <a:avLst/>
          </a:prstGeom>
          <a:noFill/>
          <a:ln/>
        </p:spPr>
        <p:txBody>
          <a:bodyPr wrap="square" lIns="0" tIns="0" rIns="0" bIns="0" rtlCol="0" anchor="ctr"/>
          <a:lstStyle/>
          <a:p>
            <a:pPr marL="0" indent="0" algn="ctr">
              <a:buNone/>
            </a:pPr>
            <a:r>
              <a:rPr lang="en-US" sz="950" b="1" dirty="0">
                <a:solidFill>
                  <a:srgbClr val="FFFFFF"/>
                </a:solidFill>
              </a:rPr>
              <a:t>Strict JSON citations</a:t>
            </a:r>
            <a:endParaRPr lang="en-US" sz="950" dirty="0"/>
          </a:p>
        </p:txBody>
      </p:sp>
      <p:sp>
        <p:nvSpPr>
          <p:cNvPr id="14" name="Shape 12"/>
          <p:cNvSpPr/>
          <p:nvPr/>
        </p:nvSpPr>
        <p:spPr>
          <a:xfrm>
            <a:off x="5394960" y="3383280"/>
            <a:ext cx="1417320" cy="310896"/>
          </a:xfrm>
          <a:prstGeom prst="roundRect">
            <a:avLst>
              <a:gd name="adj" fmla="val 20588"/>
            </a:avLst>
          </a:prstGeom>
          <a:solidFill>
            <a:srgbClr val="E59E19"/>
          </a:solidFill>
          <a:ln w="12700">
            <a:solidFill>
              <a:srgbClr val="333333">
                <a:alpha val="0"/>
              </a:srgbClr>
            </a:solidFill>
            <a:prstDash val="solid"/>
          </a:ln>
        </p:spPr>
        <p:txBody>
          <a:bodyPr/>
          <a:lstStyle/>
          <a:p>
            <a:endParaRPr lang="zh-CN" altLang="en-US"/>
          </a:p>
        </p:txBody>
      </p:sp>
      <p:sp>
        <p:nvSpPr>
          <p:cNvPr id="15" name="Text 13"/>
          <p:cNvSpPr/>
          <p:nvPr/>
        </p:nvSpPr>
        <p:spPr>
          <a:xfrm>
            <a:off x="5468112" y="3451860"/>
            <a:ext cx="1271016" cy="137160"/>
          </a:xfrm>
          <a:prstGeom prst="rect">
            <a:avLst/>
          </a:prstGeom>
          <a:noFill/>
          <a:ln/>
        </p:spPr>
        <p:txBody>
          <a:bodyPr wrap="square" lIns="0" tIns="0" rIns="0" bIns="0" rtlCol="0" anchor="ctr"/>
          <a:lstStyle/>
          <a:p>
            <a:pPr marL="0" indent="0" algn="ctr">
              <a:buNone/>
            </a:pPr>
            <a:r>
              <a:rPr lang="en-US" sz="950" b="1" dirty="0">
                <a:solidFill>
                  <a:srgbClr val="FFFFFF"/>
                </a:solidFill>
              </a:rPr>
              <a:t>Refusal logic</a:t>
            </a:r>
            <a:endParaRPr lang="en-US" sz="950" dirty="0"/>
          </a:p>
        </p:txBody>
      </p:sp>
      <p:sp>
        <p:nvSpPr>
          <p:cNvPr id="16" name="Text 14"/>
          <p:cNvSpPr/>
          <p:nvPr/>
        </p:nvSpPr>
        <p:spPr>
          <a:xfrm>
            <a:off x="731520" y="5806440"/>
            <a:ext cx="6126480" cy="274320"/>
          </a:xfrm>
          <a:prstGeom prst="rect">
            <a:avLst/>
          </a:prstGeom>
          <a:noFill/>
          <a:ln/>
        </p:spPr>
        <p:txBody>
          <a:bodyPr wrap="square" lIns="0" tIns="0" rIns="0" bIns="0" rtlCol="0" anchor="ctr"/>
          <a:lstStyle/>
          <a:p>
            <a:pPr marL="0" indent="0">
              <a:buNone/>
            </a:pPr>
            <a:r>
              <a:rPr lang="en-US" sz="1400" dirty="0">
                <a:solidFill>
                  <a:srgbClr val="E5EEF7"/>
                </a:solidFill>
              </a:rPr>
              <a:t>Suleyman Zeybekci · Aston Justus · Annabella Xu</a:t>
            </a:r>
            <a:endParaRPr lang="en-US" sz="1400" dirty="0"/>
          </a:p>
        </p:txBody>
      </p:sp>
      <p:sp>
        <p:nvSpPr>
          <p:cNvPr id="17" name="Text 15"/>
          <p:cNvSpPr/>
          <p:nvPr/>
        </p:nvSpPr>
        <p:spPr>
          <a:xfrm>
            <a:off x="731520" y="6199632"/>
            <a:ext cx="6035040" cy="182880"/>
          </a:xfrm>
          <a:prstGeom prst="rect">
            <a:avLst/>
          </a:prstGeom>
          <a:noFill/>
          <a:ln/>
        </p:spPr>
        <p:txBody>
          <a:bodyPr wrap="square" lIns="0" tIns="0" rIns="0" bIns="0" rtlCol="0" anchor="ctr"/>
          <a:lstStyle/>
          <a:p>
            <a:pPr marL="0" indent="0">
              <a:buNone/>
            </a:pPr>
            <a:r>
              <a:rPr lang="en-US" sz="980" dirty="0">
                <a:solidFill>
                  <a:srgbClr val="BFD4E8"/>
                </a:solidFill>
              </a:rPr>
              <a:t>AD 698 · Applied Generative AI for Business Analytics</a:t>
            </a:r>
            <a:endParaRPr lang="en-US" sz="98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384048" y="6510528"/>
            <a:ext cx="4937760" cy="182880"/>
          </a:xfrm>
          <a:prstGeom prst="rect">
            <a:avLst/>
          </a:prstGeom>
          <a:noFill/>
          <a:ln/>
        </p:spPr>
        <p:txBody>
          <a:bodyPr wrap="square" lIns="0" tIns="0" rIns="0" bIns="0" rtlCol="0" anchor="ctr"/>
          <a:lstStyle/>
          <a:p>
            <a:pPr marL="0" indent="0">
              <a:buNone/>
            </a:pPr>
            <a:r>
              <a:rPr lang="en-US" sz="850" dirty="0">
                <a:solidFill>
                  <a:srgbClr val="6B7280"/>
                </a:solidFill>
              </a:rPr>
              <a:t>AD 698 · Applied Generative AI for Business Analytics</a:t>
            </a:r>
          </a:p>
        </p:txBody>
      </p:sp>
      <p:sp>
        <p:nvSpPr>
          <p:cNvPr id="3" name="Text 1"/>
          <p:cNvSpPr/>
          <p:nvPr/>
        </p:nvSpPr>
        <p:spPr>
          <a:xfrm>
            <a:off x="11548872" y="6473952"/>
            <a:ext cx="320040" cy="201168"/>
          </a:xfrm>
          <a:prstGeom prst="rect">
            <a:avLst/>
          </a:prstGeom>
          <a:noFill/>
          <a:ln/>
        </p:spPr>
        <p:txBody>
          <a:bodyPr wrap="square" lIns="0" tIns="0" rIns="0" bIns="0" rtlCol="0" anchor="ctr"/>
          <a:lstStyle/>
          <a:p>
            <a:pPr marL="0" indent="0" algn="r">
              <a:buNone/>
            </a:pPr>
            <a:r>
              <a:rPr lang="en-US" sz="900" dirty="0">
                <a:solidFill>
                  <a:srgbClr val="6B7280"/>
                </a:solidFill>
              </a:rPr>
              <a:t>02</a:t>
            </a:r>
            <a:endParaRPr lang="en-US" sz="900" dirty="0"/>
          </a:p>
        </p:txBody>
      </p:sp>
      <p:sp>
        <p:nvSpPr>
          <p:cNvPr id="4" name="Text 2"/>
          <p:cNvSpPr/>
          <p:nvPr/>
        </p:nvSpPr>
        <p:spPr>
          <a:xfrm>
            <a:off x="502920" y="347472"/>
            <a:ext cx="4818888" cy="411480"/>
          </a:xfrm>
          <a:prstGeom prst="rect">
            <a:avLst/>
          </a:prstGeom>
          <a:noFill/>
          <a:ln/>
        </p:spPr>
        <p:txBody>
          <a:bodyPr wrap="square" lIns="0" tIns="0" rIns="0" bIns="0" rtlCol="0" anchor="ctr"/>
          <a:lstStyle/>
          <a:p>
            <a:pPr marL="0" indent="0">
              <a:buNone/>
            </a:pPr>
            <a:r>
              <a:rPr lang="en-US" sz="2700" b="1" dirty="0">
                <a:solidFill>
                  <a:srgbClr val="12355B"/>
                </a:solidFill>
                <a:latin typeface="Aptos Display" pitchFamily="34" charset="0"/>
                <a:ea typeface="Aptos Display" pitchFamily="34" charset="-122"/>
                <a:cs typeface="Aptos Display" pitchFamily="34" charset="-120"/>
              </a:rPr>
              <a:t>Why section-scoped RAG?</a:t>
            </a:r>
            <a:endParaRPr lang="en-US" sz="2700" dirty="0"/>
          </a:p>
        </p:txBody>
      </p:sp>
      <p:sp>
        <p:nvSpPr>
          <p:cNvPr id="5" name="Text 3"/>
          <p:cNvSpPr/>
          <p:nvPr/>
        </p:nvSpPr>
        <p:spPr>
          <a:xfrm>
            <a:off x="521208" y="786384"/>
            <a:ext cx="9326880" cy="274320"/>
          </a:xfrm>
          <a:prstGeom prst="rect">
            <a:avLst/>
          </a:prstGeom>
          <a:noFill/>
          <a:ln/>
        </p:spPr>
        <p:txBody>
          <a:bodyPr wrap="square" lIns="0" tIns="0" rIns="0" bIns="0" rtlCol="0" anchor="ctr"/>
          <a:lstStyle/>
          <a:p>
            <a:pPr marL="0" indent="0">
              <a:buNone/>
            </a:pPr>
            <a:r>
              <a:rPr lang="en-US" sz="1150" dirty="0">
                <a:solidFill>
                  <a:srgbClr val="6B7280"/>
                </a:solidFill>
              </a:rPr>
              <a:t>Enterprise financial QA must be grounded in the right regulatory disclosure section.</a:t>
            </a:r>
            <a:endParaRPr lang="en-US" sz="1150" dirty="0"/>
          </a:p>
        </p:txBody>
      </p:sp>
      <p:sp>
        <p:nvSpPr>
          <p:cNvPr id="8" name="Shape 6"/>
          <p:cNvSpPr/>
          <p:nvPr/>
        </p:nvSpPr>
        <p:spPr>
          <a:xfrm>
            <a:off x="685800" y="1417320"/>
            <a:ext cx="3703320" cy="3886200"/>
          </a:xfrm>
          <a:prstGeom prst="roundRect">
            <a:avLst>
              <a:gd name="adj" fmla="val 1728"/>
            </a:avLst>
          </a:prstGeom>
          <a:solidFill>
            <a:srgbClr val="FFFFFF"/>
          </a:solidFill>
          <a:ln w="8890">
            <a:solidFill>
              <a:srgbClr val="D4DEE9"/>
            </a:solidFill>
            <a:prstDash val="solid"/>
          </a:ln>
        </p:spPr>
        <p:txBody>
          <a:bodyPr/>
          <a:lstStyle/>
          <a:p>
            <a:endParaRPr lang="zh-CN" altLang="en-US"/>
          </a:p>
        </p:txBody>
      </p:sp>
      <p:sp>
        <p:nvSpPr>
          <p:cNvPr id="9" name="Text 7"/>
          <p:cNvSpPr/>
          <p:nvPr/>
        </p:nvSpPr>
        <p:spPr>
          <a:xfrm>
            <a:off x="960120" y="1691640"/>
            <a:ext cx="3108960" cy="274320"/>
          </a:xfrm>
          <a:prstGeom prst="rect">
            <a:avLst/>
          </a:prstGeom>
          <a:noFill/>
          <a:ln/>
        </p:spPr>
        <p:txBody>
          <a:bodyPr wrap="square" lIns="0" tIns="0" rIns="0" bIns="0" rtlCol="0" anchor="ctr"/>
          <a:lstStyle/>
          <a:p>
            <a:pPr marL="0" indent="0">
              <a:buNone/>
            </a:pPr>
            <a:r>
              <a:rPr lang="en-US" sz="1800" b="1" dirty="0">
                <a:solidFill>
                  <a:srgbClr val="12355B"/>
                </a:solidFill>
              </a:rPr>
              <a:t>Business need</a:t>
            </a:r>
            <a:endParaRPr lang="en-US" sz="1800" dirty="0"/>
          </a:p>
        </p:txBody>
      </p:sp>
      <p:sp>
        <p:nvSpPr>
          <p:cNvPr id="10" name="Text 8"/>
          <p:cNvSpPr/>
          <p:nvPr/>
        </p:nvSpPr>
        <p:spPr>
          <a:xfrm>
            <a:off x="960120" y="2240280"/>
            <a:ext cx="3063240" cy="2194560"/>
          </a:xfrm>
          <a:prstGeom prst="rect">
            <a:avLst/>
          </a:prstGeom>
          <a:noFill/>
          <a:ln/>
        </p:spPr>
        <p:txBody>
          <a:bodyPr wrap="square" lIns="381" tIns="381" rIns="381" bIns="381" rtlCol="0" anchor="ctr">
            <a:normAutofit/>
          </a:bodyPr>
          <a:lstStyle/>
          <a:p>
            <a:pPr marL="152400" indent="-152400">
              <a:buSzPct val="100000"/>
              <a:buChar char="•"/>
            </a:pPr>
            <a:r>
              <a:rPr lang="en-US" sz="1500" dirty="0">
                <a:solidFill>
                  <a:srgbClr val="111827"/>
                </a:solidFill>
              </a:rPr>
              <a:t>Analysts ask natural-language finance questions</a:t>
            </a:r>
            <a:endParaRPr lang="en-US" sz="1500" dirty="0"/>
          </a:p>
          <a:p>
            <a:pPr marL="152400" indent="-152400">
              <a:buSzPct val="100000"/>
              <a:buChar char="•"/>
            </a:pPr>
            <a:r>
              <a:rPr lang="en-US" sz="1500" dirty="0">
                <a:solidFill>
                  <a:srgbClr val="111827"/>
                </a:solidFill>
              </a:rPr>
              <a:t>Answers need citations, not generic chatbot responses</a:t>
            </a:r>
            <a:endParaRPr lang="en-US" sz="1500" dirty="0"/>
          </a:p>
          <a:p>
            <a:pPr marL="152400" indent="-152400">
              <a:buSzPct val="100000"/>
              <a:buChar char="•"/>
            </a:pPr>
            <a:r>
              <a:rPr lang="en-US" sz="1500" dirty="0">
                <a:solidFill>
                  <a:srgbClr val="111827"/>
                </a:solidFill>
              </a:rPr>
              <a:t>Weak evidence should trigger refusal</a:t>
            </a:r>
            <a:endParaRPr lang="en-US" sz="1500" dirty="0"/>
          </a:p>
        </p:txBody>
      </p:sp>
      <p:sp>
        <p:nvSpPr>
          <p:cNvPr id="11" name="Shape 9"/>
          <p:cNvSpPr/>
          <p:nvPr/>
        </p:nvSpPr>
        <p:spPr>
          <a:xfrm>
            <a:off x="4846320" y="1417320"/>
            <a:ext cx="2468880" cy="3886200"/>
          </a:xfrm>
          <a:prstGeom prst="roundRect">
            <a:avLst>
              <a:gd name="adj" fmla="val 2593"/>
            </a:avLst>
          </a:prstGeom>
          <a:solidFill>
            <a:srgbClr val="FDF7E7"/>
          </a:solidFill>
          <a:ln w="8890">
            <a:solidFill>
              <a:srgbClr val="F4D796"/>
            </a:solidFill>
            <a:prstDash val="solid"/>
          </a:ln>
        </p:spPr>
        <p:txBody>
          <a:bodyPr/>
          <a:lstStyle/>
          <a:p>
            <a:endParaRPr lang="zh-CN" altLang="en-US"/>
          </a:p>
        </p:txBody>
      </p:sp>
      <p:sp>
        <p:nvSpPr>
          <p:cNvPr id="12" name="Text 10"/>
          <p:cNvSpPr/>
          <p:nvPr/>
        </p:nvSpPr>
        <p:spPr>
          <a:xfrm>
            <a:off x="5166360" y="1691640"/>
            <a:ext cx="1828800" cy="274320"/>
          </a:xfrm>
          <a:prstGeom prst="rect">
            <a:avLst/>
          </a:prstGeom>
          <a:noFill/>
          <a:ln/>
        </p:spPr>
        <p:txBody>
          <a:bodyPr wrap="square" lIns="0" tIns="0" rIns="0" bIns="0" rtlCol="0" anchor="ctr"/>
          <a:lstStyle/>
          <a:p>
            <a:pPr marL="0" indent="0" algn="ctr">
              <a:buNone/>
            </a:pPr>
            <a:r>
              <a:rPr lang="en-US" sz="1800" b="1" dirty="0">
                <a:solidFill>
                  <a:srgbClr val="E59E19"/>
                </a:solidFill>
              </a:rPr>
              <a:t>Core problem</a:t>
            </a:r>
            <a:endParaRPr lang="en-US" sz="1800" dirty="0"/>
          </a:p>
        </p:txBody>
      </p:sp>
      <p:sp>
        <p:nvSpPr>
          <p:cNvPr id="13" name="Text 11"/>
          <p:cNvSpPr/>
          <p:nvPr/>
        </p:nvSpPr>
        <p:spPr>
          <a:xfrm>
            <a:off x="5166360" y="2423160"/>
            <a:ext cx="1828800" cy="1097280"/>
          </a:xfrm>
          <a:prstGeom prst="rect">
            <a:avLst/>
          </a:prstGeom>
          <a:noFill/>
          <a:ln/>
        </p:spPr>
        <p:txBody>
          <a:bodyPr wrap="square" lIns="254" tIns="254" rIns="254" bIns="254" rtlCol="0" anchor="ctr">
            <a:normAutofit fontScale="85000" lnSpcReduction="10000"/>
          </a:bodyPr>
          <a:lstStyle/>
          <a:p>
            <a:pPr marL="0" indent="0" algn="ctr">
              <a:buNone/>
            </a:pPr>
            <a:r>
              <a:rPr lang="en-US" sz="2000" b="1" dirty="0">
                <a:solidFill>
                  <a:srgbClr val="111827"/>
                </a:solidFill>
              </a:rPr>
              <a:t>The LLM should not decide which SEC sections are legally relevant.</a:t>
            </a:r>
            <a:endParaRPr lang="en-US" sz="2000" dirty="0"/>
          </a:p>
        </p:txBody>
      </p:sp>
      <p:sp>
        <p:nvSpPr>
          <p:cNvPr id="14" name="Shape 12"/>
          <p:cNvSpPr/>
          <p:nvPr/>
        </p:nvSpPr>
        <p:spPr>
          <a:xfrm>
            <a:off x="7726680" y="2560320"/>
            <a:ext cx="594360" cy="640080"/>
          </a:xfrm>
          <a:prstGeom prst="chevron">
            <a:avLst/>
          </a:prstGeom>
          <a:solidFill>
            <a:srgbClr val="0F766E"/>
          </a:solidFill>
          <a:ln w="12700">
            <a:solidFill>
              <a:srgbClr val="333333">
                <a:alpha val="0"/>
              </a:srgbClr>
            </a:solidFill>
            <a:prstDash val="solid"/>
          </a:ln>
        </p:spPr>
        <p:txBody>
          <a:bodyPr/>
          <a:lstStyle/>
          <a:p>
            <a:endParaRPr lang="zh-CN" altLang="en-US"/>
          </a:p>
        </p:txBody>
      </p:sp>
      <p:sp>
        <p:nvSpPr>
          <p:cNvPr id="15" name="Shape 13"/>
          <p:cNvSpPr/>
          <p:nvPr/>
        </p:nvSpPr>
        <p:spPr>
          <a:xfrm>
            <a:off x="8641080" y="1417320"/>
            <a:ext cx="2971800" cy="3886200"/>
          </a:xfrm>
          <a:prstGeom prst="roundRect">
            <a:avLst>
              <a:gd name="adj" fmla="val 2154"/>
            </a:avLst>
          </a:prstGeom>
          <a:solidFill>
            <a:srgbClr val="FFFFFF"/>
          </a:solidFill>
          <a:ln w="8890">
            <a:solidFill>
              <a:srgbClr val="D4DEE9"/>
            </a:solidFill>
            <a:prstDash val="solid"/>
          </a:ln>
        </p:spPr>
        <p:txBody>
          <a:bodyPr/>
          <a:lstStyle/>
          <a:p>
            <a:endParaRPr lang="zh-CN" altLang="en-US"/>
          </a:p>
        </p:txBody>
      </p:sp>
      <p:sp>
        <p:nvSpPr>
          <p:cNvPr id="16" name="Text 14"/>
          <p:cNvSpPr/>
          <p:nvPr/>
        </p:nvSpPr>
        <p:spPr>
          <a:xfrm>
            <a:off x="8961120" y="1691640"/>
            <a:ext cx="2331720" cy="274320"/>
          </a:xfrm>
          <a:prstGeom prst="rect">
            <a:avLst/>
          </a:prstGeom>
          <a:noFill/>
          <a:ln/>
        </p:spPr>
        <p:txBody>
          <a:bodyPr wrap="square" lIns="0" tIns="0" rIns="0" bIns="0" rtlCol="0" anchor="ctr"/>
          <a:lstStyle/>
          <a:p>
            <a:pPr marL="0" indent="0" algn="ctr">
              <a:buNone/>
            </a:pPr>
            <a:r>
              <a:rPr lang="en-US" sz="1800" b="1" dirty="0">
                <a:solidFill>
                  <a:srgbClr val="0F766E"/>
                </a:solidFill>
              </a:rPr>
              <a:t>Our answer</a:t>
            </a:r>
            <a:endParaRPr lang="en-US" sz="1800" dirty="0"/>
          </a:p>
        </p:txBody>
      </p:sp>
      <p:sp>
        <p:nvSpPr>
          <p:cNvPr id="17" name="Text 15"/>
          <p:cNvSpPr/>
          <p:nvPr/>
        </p:nvSpPr>
        <p:spPr>
          <a:xfrm>
            <a:off x="8915400" y="2176272"/>
            <a:ext cx="2423160" cy="2423160"/>
          </a:xfrm>
          <a:prstGeom prst="rect">
            <a:avLst/>
          </a:prstGeom>
          <a:noFill/>
          <a:ln/>
        </p:spPr>
        <p:txBody>
          <a:bodyPr wrap="square" lIns="381" tIns="381" rIns="381" bIns="381" rtlCol="0" anchor="ctr">
            <a:normAutofit/>
          </a:bodyPr>
          <a:lstStyle/>
          <a:p>
            <a:pPr marL="152400" indent="-152400">
              <a:buSzPct val="100000"/>
              <a:buChar char="•"/>
            </a:pPr>
            <a:r>
              <a:rPr lang="en-US" sz="1450" dirty="0">
                <a:solidFill>
                  <a:srgbClr val="111827"/>
                </a:solidFill>
              </a:rPr>
              <a:t>Use SEC Item metadata as a hard boundary</a:t>
            </a:r>
            <a:endParaRPr lang="en-US" sz="1450" dirty="0"/>
          </a:p>
          <a:p>
            <a:pPr marL="152400" indent="-152400">
              <a:buSzPct val="100000"/>
              <a:buChar char="•"/>
            </a:pPr>
            <a:r>
              <a:rPr lang="en-US" sz="1450" dirty="0">
                <a:solidFill>
                  <a:srgbClr val="111827"/>
                </a:solidFill>
              </a:rPr>
              <a:t>Retrieve only Items 6, 7, 7A, 8</a:t>
            </a:r>
            <a:endParaRPr lang="en-US" sz="1450" dirty="0"/>
          </a:p>
          <a:p>
            <a:pPr marL="152400" indent="-152400">
              <a:buSzPct val="100000"/>
              <a:buChar char="•"/>
            </a:pPr>
            <a:r>
              <a:rPr lang="en-US" sz="1450" dirty="0">
                <a:solidFill>
                  <a:srgbClr val="111827"/>
                </a:solidFill>
              </a:rPr>
              <a:t>Cite exact chunk_id + Item number</a:t>
            </a:r>
            <a:endParaRPr lang="en-US" sz="1450" dirty="0"/>
          </a:p>
          <a:p>
            <a:pPr marL="152400" indent="-152400">
              <a:buSzPct val="100000"/>
              <a:buChar char="•"/>
            </a:pPr>
            <a:r>
              <a:rPr lang="en-US" sz="1450" dirty="0">
                <a:solidFill>
                  <a:srgbClr val="111827"/>
                </a:solidFill>
              </a:rPr>
              <a:t>Refuse when evidence is below threshold</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384048" y="6510528"/>
            <a:ext cx="4937760" cy="182880"/>
          </a:xfrm>
          <a:prstGeom prst="rect">
            <a:avLst/>
          </a:prstGeom>
          <a:noFill/>
          <a:ln/>
        </p:spPr>
        <p:txBody>
          <a:bodyPr wrap="square" lIns="0" tIns="0" rIns="0" bIns="0" rtlCol="0" anchor="ctr"/>
          <a:lstStyle/>
          <a:p>
            <a:r>
              <a:rPr lang="en-US" altLang="zh-CN" sz="850" dirty="0">
                <a:solidFill>
                  <a:srgbClr val="6B7280"/>
                </a:solidFill>
              </a:rPr>
              <a:t>AD 698 · Applied Generative AI for Business Analytics</a:t>
            </a:r>
          </a:p>
        </p:txBody>
      </p:sp>
      <p:sp>
        <p:nvSpPr>
          <p:cNvPr id="3" name="Text 1"/>
          <p:cNvSpPr/>
          <p:nvPr/>
        </p:nvSpPr>
        <p:spPr>
          <a:xfrm>
            <a:off x="11548872" y="6473952"/>
            <a:ext cx="320040" cy="201168"/>
          </a:xfrm>
          <a:prstGeom prst="rect">
            <a:avLst/>
          </a:prstGeom>
          <a:noFill/>
          <a:ln/>
        </p:spPr>
        <p:txBody>
          <a:bodyPr wrap="square" lIns="0" tIns="0" rIns="0" bIns="0" rtlCol="0" anchor="ctr"/>
          <a:lstStyle/>
          <a:p>
            <a:pPr marL="0" indent="0" algn="r">
              <a:buNone/>
            </a:pPr>
            <a:r>
              <a:rPr lang="en-US" sz="900" dirty="0">
                <a:solidFill>
                  <a:srgbClr val="6B7280"/>
                </a:solidFill>
              </a:rPr>
              <a:t>03</a:t>
            </a:r>
            <a:endParaRPr lang="en-US" sz="900" dirty="0"/>
          </a:p>
        </p:txBody>
      </p:sp>
      <p:sp>
        <p:nvSpPr>
          <p:cNvPr id="4" name="Text 2"/>
          <p:cNvSpPr/>
          <p:nvPr/>
        </p:nvSpPr>
        <p:spPr>
          <a:xfrm>
            <a:off x="502920" y="347472"/>
            <a:ext cx="8961120" cy="411480"/>
          </a:xfrm>
          <a:prstGeom prst="rect">
            <a:avLst/>
          </a:prstGeom>
          <a:noFill/>
          <a:ln/>
        </p:spPr>
        <p:txBody>
          <a:bodyPr wrap="square" lIns="0" tIns="0" rIns="0" bIns="0" rtlCol="0" anchor="ctr"/>
          <a:lstStyle/>
          <a:p>
            <a:pPr marL="0" indent="0">
              <a:buNone/>
            </a:pPr>
            <a:r>
              <a:rPr lang="en-US" sz="2700" b="1" dirty="0">
                <a:solidFill>
                  <a:srgbClr val="12355B"/>
                </a:solidFill>
                <a:latin typeface="Aptos Display" pitchFamily="34" charset="0"/>
                <a:ea typeface="Aptos Display" pitchFamily="34" charset="-122"/>
                <a:cs typeface="Aptos Display" pitchFamily="34" charset="-120"/>
              </a:rPr>
              <a:t>Retrieval scope: Items 6, 7, 7A, 8</a:t>
            </a:r>
            <a:endParaRPr lang="en-US" sz="2700" dirty="0"/>
          </a:p>
        </p:txBody>
      </p:sp>
      <p:sp>
        <p:nvSpPr>
          <p:cNvPr id="5" name="Text 3"/>
          <p:cNvSpPr/>
          <p:nvPr/>
        </p:nvSpPr>
        <p:spPr>
          <a:xfrm>
            <a:off x="521208" y="786384"/>
            <a:ext cx="9326880" cy="274320"/>
          </a:xfrm>
          <a:prstGeom prst="rect">
            <a:avLst/>
          </a:prstGeom>
          <a:noFill/>
          <a:ln/>
        </p:spPr>
        <p:txBody>
          <a:bodyPr wrap="square" lIns="0" tIns="0" rIns="0" bIns="0" rtlCol="0" anchor="ctr"/>
          <a:lstStyle/>
          <a:p>
            <a:pPr marL="0" indent="0">
              <a:buNone/>
            </a:pPr>
            <a:r>
              <a:rPr lang="en-US" sz="1150" dirty="0">
                <a:solidFill>
                  <a:srgbClr val="6B7280"/>
                </a:solidFill>
              </a:rPr>
              <a:t>The system is intentionally limited to financial performance and market-risk disclosure.</a:t>
            </a:r>
            <a:endParaRPr lang="en-US" sz="1150" dirty="0"/>
          </a:p>
        </p:txBody>
      </p:sp>
      <p:sp>
        <p:nvSpPr>
          <p:cNvPr id="8" name="Shape 6"/>
          <p:cNvSpPr/>
          <p:nvPr/>
        </p:nvSpPr>
        <p:spPr>
          <a:xfrm>
            <a:off x="685800" y="1508760"/>
            <a:ext cx="2240280" cy="2971800"/>
          </a:xfrm>
          <a:prstGeom prst="roundRect">
            <a:avLst>
              <a:gd name="adj" fmla="val 2857"/>
            </a:avLst>
          </a:prstGeom>
          <a:solidFill>
            <a:srgbClr val="FFFFFF"/>
          </a:solidFill>
          <a:ln w="8890">
            <a:solidFill>
              <a:srgbClr val="D6E3EF"/>
            </a:solidFill>
            <a:prstDash val="solid"/>
          </a:ln>
        </p:spPr>
        <p:txBody>
          <a:bodyPr/>
          <a:lstStyle/>
          <a:p>
            <a:endParaRPr lang="zh-CN" altLang="en-US"/>
          </a:p>
        </p:txBody>
      </p:sp>
      <p:sp>
        <p:nvSpPr>
          <p:cNvPr id="9" name="Shape 7"/>
          <p:cNvSpPr/>
          <p:nvPr/>
        </p:nvSpPr>
        <p:spPr>
          <a:xfrm>
            <a:off x="685800" y="1508760"/>
            <a:ext cx="2240280" cy="502920"/>
          </a:xfrm>
          <a:prstGeom prst="rect">
            <a:avLst/>
          </a:prstGeom>
          <a:solidFill>
            <a:srgbClr val="1F4E79"/>
          </a:solidFill>
          <a:ln w="12700">
            <a:solidFill>
              <a:srgbClr val="333333">
                <a:alpha val="0"/>
              </a:srgbClr>
            </a:solidFill>
            <a:prstDash val="solid"/>
          </a:ln>
        </p:spPr>
        <p:txBody>
          <a:bodyPr/>
          <a:lstStyle/>
          <a:p>
            <a:endParaRPr lang="zh-CN" altLang="en-US"/>
          </a:p>
        </p:txBody>
      </p:sp>
      <p:sp>
        <p:nvSpPr>
          <p:cNvPr id="10" name="Text 8"/>
          <p:cNvSpPr/>
          <p:nvPr/>
        </p:nvSpPr>
        <p:spPr>
          <a:xfrm>
            <a:off x="822960" y="1627632"/>
            <a:ext cx="1965960" cy="182880"/>
          </a:xfrm>
          <a:prstGeom prst="rect">
            <a:avLst/>
          </a:prstGeom>
          <a:noFill/>
          <a:ln/>
        </p:spPr>
        <p:txBody>
          <a:bodyPr wrap="square" lIns="0" tIns="0" rIns="0" bIns="0" rtlCol="0" anchor="ctr"/>
          <a:lstStyle/>
          <a:p>
            <a:pPr marL="0" indent="0" algn="ctr">
              <a:buNone/>
            </a:pPr>
            <a:r>
              <a:rPr lang="en-US" sz="1700" b="1" dirty="0">
                <a:solidFill>
                  <a:srgbClr val="FFFFFF"/>
                </a:solidFill>
              </a:rPr>
              <a:t>Item 6</a:t>
            </a:r>
            <a:endParaRPr lang="en-US" sz="1700" dirty="0"/>
          </a:p>
        </p:txBody>
      </p:sp>
      <p:sp>
        <p:nvSpPr>
          <p:cNvPr id="11" name="Text 9"/>
          <p:cNvSpPr/>
          <p:nvPr/>
        </p:nvSpPr>
        <p:spPr>
          <a:xfrm>
            <a:off x="822960" y="2240280"/>
            <a:ext cx="1965960" cy="320040"/>
          </a:xfrm>
          <a:prstGeom prst="rect">
            <a:avLst/>
          </a:prstGeom>
          <a:noFill/>
          <a:ln/>
        </p:spPr>
        <p:txBody>
          <a:bodyPr wrap="square" lIns="0" tIns="0" rIns="0" bIns="0" rtlCol="0" anchor="ctr">
            <a:normAutofit/>
          </a:bodyPr>
          <a:lstStyle/>
          <a:p>
            <a:pPr marL="0" indent="0" algn="ctr">
              <a:buNone/>
            </a:pPr>
            <a:r>
              <a:rPr lang="en-US" sz="1300" b="1" dirty="0">
                <a:solidFill>
                  <a:srgbClr val="1F4E79"/>
                </a:solidFill>
              </a:rPr>
              <a:t>Selected Financial Data</a:t>
            </a:r>
            <a:endParaRPr lang="en-US" sz="1300" dirty="0"/>
          </a:p>
        </p:txBody>
      </p:sp>
      <p:sp>
        <p:nvSpPr>
          <p:cNvPr id="12" name="Text 10"/>
          <p:cNvSpPr/>
          <p:nvPr/>
        </p:nvSpPr>
        <p:spPr>
          <a:xfrm>
            <a:off x="850392" y="2880360"/>
            <a:ext cx="1920240" cy="1188720"/>
          </a:xfrm>
          <a:prstGeom prst="rect">
            <a:avLst/>
          </a:prstGeom>
          <a:noFill/>
          <a:ln/>
        </p:spPr>
        <p:txBody>
          <a:bodyPr wrap="square" lIns="254" tIns="254" rIns="254" bIns="254" rtlCol="0" anchor="ctr">
            <a:normAutofit/>
          </a:bodyPr>
          <a:lstStyle/>
          <a:p>
            <a:pPr marL="0" indent="0" algn="ctr">
              <a:buNone/>
            </a:pPr>
            <a:r>
              <a:rPr lang="en-US" sz="1400" dirty="0">
                <a:solidFill>
                  <a:srgbClr val="111827"/>
                </a:solidFill>
              </a:rPr>
              <a:t>Longitudinal trend anchor</a:t>
            </a:r>
            <a:endParaRPr lang="en-US" sz="1400" dirty="0"/>
          </a:p>
          <a:p>
            <a:pPr marL="0" indent="0" algn="ctr">
              <a:buNone/>
            </a:pPr>
            <a:r>
              <a:rPr lang="en-US" sz="1400" dirty="0">
                <a:solidFill>
                  <a:srgbClr val="111827"/>
                </a:solidFill>
              </a:rPr>
              <a:t>Revenue · income · assets</a:t>
            </a:r>
            <a:endParaRPr lang="en-US" sz="1400" dirty="0"/>
          </a:p>
        </p:txBody>
      </p:sp>
      <p:sp>
        <p:nvSpPr>
          <p:cNvPr id="13" name="Shape 11"/>
          <p:cNvSpPr/>
          <p:nvPr/>
        </p:nvSpPr>
        <p:spPr>
          <a:xfrm>
            <a:off x="3474720" y="1508760"/>
            <a:ext cx="2240280" cy="2971800"/>
          </a:xfrm>
          <a:prstGeom prst="roundRect">
            <a:avLst>
              <a:gd name="adj" fmla="val 2857"/>
            </a:avLst>
          </a:prstGeom>
          <a:solidFill>
            <a:srgbClr val="FFFFFF"/>
          </a:solidFill>
          <a:ln w="8890">
            <a:solidFill>
              <a:srgbClr val="D6E3EF"/>
            </a:solidFill>
            <a:prstDash val="solid"/>
          </a:ln>
        </p:spPr>
        <p:txBody>
          <a:bodyPr/>
          <a:lstStyle/>
          <a:p>
            <a:endParaRPr lang="zh-CN" altLang="en-US"/>
          </a:p>
        </p:txBody>
      </p:sp>
      <p:sp>
        <p:nvSpPr>
          <p:cNvPr id="14" name="Shape 12"/>
          <p:cNvSpPr/>
          <p:nvPr/>
        </p:nvSpPr>
        <p:spPr>
          <a:xfrm>
            <a:off x="3474720" y="1508760"/>
            <a:ext cx="2240280" cy="502920"/>
          </a:xfrm>
          <a:prstGeom prst="rect">
            <a:avLst/>
          </a:prstGeom>
          <a:solidFill>
            <a:srgbClr val="0F766E"/>
          </a:solidFill>
          <a:ln w="12700">
            <a:solidFill>
              <a:srgbClr val="333333">
                <a:alpha val="0"/>
              </a:srgbClr>
            </a:solidFill>
            <a:prstDash val="solid"/>
          </a:ln>
        </p:spPr>
        <p:txBody>
          <a:bodyPr/>
          <a:lstStyle/>
          <a:p>
            <a:endParaRPr lang="zh-CN" altLang="en-US"/>
          </a:p>
        </p:txBody>
      </p:sp>
      <p:sp>
        <p:nvSpPr>
          <p:cNvPr id="15" name="Text 13"/>
          <p:cNvSpPr/>
          <p:nvPr/>
        </p:nvSpPr>
        <p:spPr>
          <a:xfrm>
            <a:off x="3611880" y="1627632"/>
            <a:ext cx="1965960" cy="182880"/>
          </a:xfrm>
          <a:prstGeom prst="rect">
            <a:avLst/>
          </a:prstGeom>
          <a:noFill/>
          <a:ln/>
        </p:spPr>
        <p:txBody>
          <a:bodyPr wrap="square" lIns="0" tIns="0" rIns="0" bIns="0" rtlCol="0" anchor="ctr"/>
          <a:lstStyle/>
          <a:p>
            <a:pPr marL="0" indent="0" algn="ctr">
              <a:buNone/>
            </a:pPr>
            <a:r>
              <a:rPr lang="en-US" sz="1700" b="1" dirty="0">
                <a:solidFill>
                  <a:srgbClr val="FFFFFF"/>
                </a:solidFill>
              </a:rPr>
              <a:t>Item 7</a:t>
            </a:r>
            <a:endParaRPr lang="en-US" sz="1700" dirty="0"/>
          </a:p>
        </p:txBody>
      </p:sp>
      <p:sp>
        <p:nvSpPr>
          <p:cNvPr id="16" name="Text 14"/>
          <p:cNvSpPr/>
          <p:nvPr/>
        </p:nvSpPr>
        <p:spPr>
          <a:xfrm>
            <a:off x="3611880" y="2240280"/>
            <a:ext cx="1965960" cy="320040"/>
          </a:xfrm>
          <a:prstGeom prst="rect">
            <a:avLst/>
          </a:prstGeom>
          <a:noFill/>
          <a:ln/>
        </p:spPr>
        <p:txBody>
          <a:bodyPr wrap="square" lIns="0" tIns="0" rIns="0" bIns="0" rtlCol="0" anchor="ctr">
            <a:normAutofit/>
          </a:bodyPr>
          <a:lstStyle/>
          <a:p>
            <a:pPr marL="0" indent="0" algn="ctr">
              <a:buNone/>
            </a:pPr>
            <a:r>
              <a:rPr lang="en-US" sz="1300" b="1" dirty="0">
                <a:solidFill>
                  <a:srgbClr val="0F766E"/>
                </a:solidFill>
              </a:rPr>
              <a:t>MD&amp;A</a:t>
            </a:r>
            <a:endParaRPr lang="en-US" sz="1300" dirty="0"/>
          </a:p>
        </p:txBody>
      </p:sp>
      <p:sp>
        <p:nvSpPr>
          <p:cNvPr id="17" name="Text 15"/>
          <p:cNvSpPr/>
          <p:nvPr/>
        </p:nvSpPr>
        <p:spPr>
          <a:xfrm>
            <a:off x="3639312" y="2880360"/>
            <a:ext cx="1920240" cy="1188720"/>
          </a:xfrm>
          <a:prstGeom prst="rect">
            <a:avLst/>
          </a:prstGeom>
          <a:noFill/>
          <a:ln/>
        </p:spPr>
        <p:txBody>
          <a:bodyPr wrap="square" lIns="254" tIns="254" rIns="254" bIns="254" rtlCol="0" anchor="ctr">
            <a:normAutofit/>
          </a:bodyPr>
          <a:lstStyle/>
          <a:p>
            <a:pPr marL="0" indent="0" algn="ctr">
              <a:buNone/>
            </a:pPr>
            <a:r>
              <a:rPr lang="en-US" sz="1400" dirty="0">
                <a:solidFill>
                  <a:srgbClr val="111827"/>
                </a:solidFill>
              </a:rPr>
              <a:t>Drivers and management explanations</a:t>
            </a:r>
            <a:endParaRPr lang="en-US" sz="1400" dirty="0"/>
          </a:p>
          <a:p>
            <a:pPr marL="0" indent="0" algn="ctr">
              <a:buNone/>
            </a:pPr>
            <a:r>
              <a:rPr lang="en-US" sz="1400" dirty="0">
                <a:solidFill>
                  <a:srgbClr val="111827"/>
                </a:solidFill>
              </a:rPr>
              <a:t>Liquidity · margin · capital allocation</a:t>
            </a:r>
            <a:endParaRPr lang="en-US" sz="1400" dirty="0"/>
          </a:p>
        </p:txBody>
      </p:sp>
      <p:sp>
        <p:nvSpPr>
          <p:cNvPr id="18" name="Shape 16"/>
          <p:cNvSpPr/>
          <p:nvPr/>
        </p:nvSpPr>
        <p:spPr>
          <a:xfrm>
            <a:off x="6263640" y="1508760"/>
            <a:ext cx="2240280" cy="2971800"/>
          </a:xfrm>
          <a:prstGeom prst="roundRect">
            <a:avLst>
              <a:gd name="adj" fmla="val 2857"/>
            </a:avLst>
          </a:prstGeom>
          <a:solidFill>
            <a:srgbClr val="FFFFFF"/>
          </a:solidFill>
          <a:ln w="8890">
            <a:solidFill>
              <a:srgbClr val="D6E3EF"/>
            </a:solidFill>
            <a:prstDash val="solid"/>
          </a:ln>
        </p:spPr>
        <p:txBody>
          <a:bodyPr/>
          <a:lstStyle/>
          <a:p>
            <a:endParaRPr lang="zh-CN" altLang="en-US"/>
          </a:p>
        </p:txBody>
      </p:sp>
      <p:sp>
        <p:nvSpPr>
          <p:cNvPr id="19" name="Shape 17"/>
          <p:cNvSpPr/>
          <p:nvPr/>
        </p:nvSpPr>
        <p:spPr>
          <a:xfrm>
            <a:off x="6263640" y="1508760"/>
            <a:ext cx="2240280" cy="502920"/>
          </a:xfrm>
          <a:prstGeom prst="rect">
            <a:avLst/>
          </a:prstGeom>
          <a:solidFill>
            <a:srgbClr val="E59E19"/>
          </a:solidFill>
          <a:ln w="12700">
            <a:solidFill>
              <a:srgbClr val="333333">
                <a:alpha val="0"/>
              </a:srgbClr>
            </a:solidFill>
            <a:prstDash val="solid"/>
          </a:ln>
        </p:spPr>
        <p:txBody>
          <a:bodyPr/>
          <a:lstStyle/>
          <a:p>
            <a:endParaRPr lang="zh-CN" altLang="en-US"/>
          </a:p>
        </p:txBody>
      </p:sp>
      <p:sp>
        <p:nvSpPr>
          <p:cNvPr id="20" name="Text 18"/>
          <p:cNvSpPr/>
          <p:nvPr/>
        </p:nvSpPr>
        <p:spPr>
          <a:xfrm>
            <a:off x="6400800" y="1627632"/>
            <a:ext cx="1965960" cy="182880"/>
          </a:xfrm>
          <a:prstGeom prst="rect">
            <a:avLst/>
          </a:prstGeom>
          <a:noFill/>
          <a:ln/>
        </p:spPr>
        <p:txBody>
          <a:bodyPr wrap="square" lIns="0" tIns="0" rIns="0" bIns="0" rtlCol="0" anchor="ctr"/>
          <a:lstStyle/>
          <a:p>
            <a:pPr marL="0" indent="0" algn="ctr">
              <a:buNone/>
            </a:pPr>
            <a:r>
              <a:rPr lang="en-US" sz="1700" b="1" dirty="0">
                <a:solidFill>
                  <a:srgbClr val="FFFFFF"/>
                </a:solidFill>
              </a:rPr>
              <a:t>Item 7A</a:t>
            </a:r>
            <a:endParaRPr lang="en-US" sz="1700" dirty="0"/>
          </a:p>
        </p:txBody>
      </p:sp>
      <p:sp>
        <p:nvSpPr>
          <p:cNvPr id="21" name="Text 19"/>
          <p:cNvSpPr/>
          <p:nvPr/>
        </p:nvSpPr>
        <p:spPr>
          <a:xfrm>
            <a:off x="6400800" y="2240280"/>
            <a:ext cx="1965960" cy="320040"/>
          </a:xfrm>
          <a:prstGeom prst="rect">
            <a:avLst/>
          </a:prstGeom>
          <a:noFill/>
          <a:ln/>
        </p:spPr>
        <p:txBody>
          <a:bodyPr wrap="square" lIns="0" tIns="0" rIns="0" bIns="0" rtlCol="0" anchor="ctr">
            <a:normAutofit/>
          </a:bodyPr>
          <a:lstStyle/>
          <a:p>
            <a:pPr marL="0" indent="0" algn="ctr">
              <a:buNone/>
            </a:pPr>
            <a:r>
              <a:rPr lang="en-US" sz="1300" b="1" dirty="0">
                <a:solidFill>
                  <a:srgbClr val="E59E19"/>
                </a:solidFill>
              </a:rPr>
              <a:t>Market Risk</a:t>
            </a:r>
            <a:endParaRPr lang="en-US" sz="1300" dirty="0"/>
          </a:p>
        </p:txBody>
      </p:sp>
      <p:sp>
        <p:nvSpPr>
          <p:cNvPr id="22" name="Text 20"/>
          <p:cNvSpPr/>
          <p:nvPr/>
        </p:nvSpPr>
        <p:spPr>
          <a:xfrm>
            <a:off x="6428232" y="2880360"/>
            <a:ext cx="1920240" cy="1188720"/>
          </a:xfrm>
          <a:prstGeom prst="rect">
            <a:avLst/>
          </a:prstGeom>
          <a:noFill/>
          <a:ln/>
        </p:spPr>
        <p:txBody>
          <a:bodyPr wrap="square" lIns="254" tIns="254" rIns="254" bIns="254" rtlCol="0" anchor="ctr">
            <a:normAutofit/>
          </a:bodyPr>
          <a:lstStyle/>
          <a:p>
            <a:pPr marL="0" indent="0" algn="ctr">
              <a:buNone/>
            </a:pPr>
            <a:r>
              <a:rPr lang="en-US" sz="1400" dirty="0">
                <a:solidFill>
                  <a:srgbClr val="111827"/>
                </a:solidFill>
              </a:rPr>
              <a:t>Quantitative and qualitative risk</a:t>
            </a:r>
            <a:endParaRPr lang="en-US" sz="1400" dirty="0"/>
          </a:p>
          <a:p>
            <a:pPr marL="0" indent="0" algn="ctr">
              <a:buNone/>
            </a:pPr>
            <a:r>
              <a:rPr lang="en-US" sz="1400" dirty="0">
                <a:solidFill>
                  <a:srgbClr val="111827"/>
                </a:solidFill>
              </a:rPr>
              <a:t>FX · rates · commodities · equity</a:t>
            </a:r>
            <a:endParaRPr lang="en-US" sz="1400" dirty="0"/>
          </a:p>
        </p:txBody>
      </p:sp>
      <p:sp>
        <p:nvSpPr>
          <p:cNvPr id="23" name="Shape 21"/>
          <p:cNvSpPr/>
          <p:nvPr/>
        </p:nvSpPr>
        <p:spPr>
          <a:xfrm>
            <a:off x="9052560" y="1508760"/>
            <a:ext cx="2240280" cy="2971800"/>
          </a:xfrm>
          <a:prstGeom prst="roundRect">
            <a:avLst>
              <a:gd name="adj" fmla="val 2857"/>
            </a:avLst>
          </a:prstGeom>
          <a:solidFill>
            <a:srgbClr val="FFFFFF"/>
          </a:solidFill>
          <a:ln w="8890">
            <a:solidFill>
              <a:srgbClr val="D6E3EF"/>
            </a:solidFill>
            <a:prstDash val="solid"/>
          </a:ln>
        </p:spPr>
        <p:txBody>
          <a:bodyPr/>
          <a:lstStyle/>
          <a:p>
            <a:endParaRPr lang="zh-CN" altLang="en-US"/>
          </a:p>
        </p:txBody>
      </p:sp>
      <p:sp>
        <p:nvSpPr>
          <p:cNvPr id="24" name="Shape 22"/>
          <p:cNvSpPr/>
          <p:nvPr/>
        </p:nvSpPr>
        <p:spPr>
          <a:xfrm>
            <a:off x="9052560" y="1508760"/>
            <a:ext cx="2240280" cy="502920"/>
          </a:xfrm>
          <a:prstGeom prst="rect">
            <a:avLst/>
          </a:prstGeom>
          <a:solidFill>
            <a:srgbClr val="2E7D32"/>
          </a:solidFill>
          <a:ln w="12700">
            <a:solidFill>
              <a:srgbClr val="333333">
                <a:alpha val="0"/>
              </a:srgbClr>
            </a:solidFill>
            <a:prstDash val="solid"/>
          </a:ln>
        </p:spPr>
        <p:txBody>
          <a:bodyPr/>
          <a:lstStyle/>
          <a:p>
            <a:endParaRPr lang="zh-CN" altLang="en-US"/>
          </a:p>
        </p:txBody>
      </p:sp>
      <p:sp>
        <p:nvSpPr>
          <p:cNvPr id="25" name="Text 23"/>
          <p:cNvSpPr/>
          <p:nvPr/>
        </p:nvSpPr>
        <p:spPr>
          <a:xfrm>
            <a:off x="9189720" y="1627632"/>
            <a:ext cx="1965960" cy="182880"/>
          </a:xfrm>
          <a:prstGeom prst="rect">
            <a:avLst/>
          </a:prstGeom>
          <a:noFill/>
          <a:ln/>
        </p:spPr>
        <p:txBody>
          <a:bodyPr wrap="square" lIns="0" tIns="0" rIns="0" bIns="0" rtlCol="0" anchor="ctr"/>
          <a:lstStyle/>
          <a:p>
            <a:pPr marL="0" indent="0" algn="ctr">
              <a:buNone/>
            </a:pPr>
            <a:r>
              <a:rPr lang="en-US" sz="1700" b="1" dirty="0">
                <a:solidFill>
                  <a:srgbClr val="FFFFFF"/>
                </a:solidFill>
              </a:rPr>
              <a:t>Item 8</a:t>
            </a:r>
            <a:endParaRPr lang="en-US" sz="1700" dirty="0"/>
          </a:p>
        </p:txBody>
      </p:sp>
      <p:sp>
        <p:nvSpPr>
          <p:cNvPr id="26" name="Text 24"/>
          <p:cNvSpPr/>
          <p:nvPr/>
        </p:nvSpPr>
        <p:spPr>
          <a:xfrm>
            <a:off x="9189720" y="2240280"/>
            <a:ext cx="1965960" cy="320040"/>
          </a:xfrm>
          <a:prstGeom prst="rect">
            <a:avLst/>
          </a:prstGeom>
          <a:noFill/>
          <a:ln/>
        </p:spPr>
        <p:txBody>
          <a:bodyPr wrap="square" lIns="0" tIns="0" rIns="0" bIns="0" rtlCol="0" anchor="ctr">
            <a:normAutofit/>
          </a:bodyPr>
          <a:lstStyle/>
          <a:p>
            <a:pPr marL="0" indent="0" algn="ctr">
              <a:buNone/>
            </a:pPr>
            <a:r>
              <a:rPr lang="en-US" sz="1300" b="1" dirty="0">
                <a:solidFill>
                  <a:srgbClr val="2E7D32"/>
                </a:solidFill>
              </a:rPr>
              <a:t>Financial Statements</a:t>
            </a:r>
            <a:endParaRPr lang="en-US" sz="1300" dirty="0"/>
          </a:p>
        </p:txBody>
      </p:sp>
      <p:sp>
        <p:nvSpPr>
          <p:cNvPr id="27" name="Text 25"/>
          <p:cNvSpPr/>
          <p:nvPr/>
        </p:nvSpPr>
        <p:spPr>
          <a:xfrm>
            <a:off x="9217152" y="2880360"/>
            <a:ext cx="1920240" cy="1188720"/>
          </a:xfrm>
          <a:prstGeom prst="rect">
            <a:avLst/>
          </a:prstGeom>
          <a:noFill/>
          <a:ln/>
        </p:spPr>
        <p:txBody>
          <a:bodyPr wrap="square" lIns="254" tIns="254" rIns="254" bIns="254" rtlCol="0" anchor="ctr">
            <a:normAutofit/>
          </a:bodyPr>
          <a:lstStyle/>
          <a:p>
            <a:pPr marL="0" indent="0" algn="ctr">
              <a:buNone/>
            </a:pPr>
            <a:r>
              <a:rPr lang="en-US" sz="1400" dirty="0">
                <a:solidFill>
                  <a:srgbClr val="111827"/>
                </a:solidFill>
              </a:rPr>
              <a:t>Accounting policies and audit evidence</a:t>
            </a:r>
            <a:endParaRPr lang="en-US" sz="1400" dirty="0"/>
          </a:p>
          <a:p>
            <a:pPr marL="0" indent="0" algn="ctr">
              <a:buNone/>
            </a:pPr>
            <a:r>
              <a:rPr lang="en-US" sz="1400" dirty="0">
                <a:solidFill>
                  <a:srgbClr val="111827"/>
                </a:solidFill>
              </a:rPr>
              <a:t>Footnotes · CAMs · impairments</a:t>
            </a:r>
            <a:endParaRPr lang="en-US" sz="1400" dirty="0"/>
          </a:p>
        </p:txBody>
      </p:sp>
      <p:sp>
        <p:nvSpPr>
          <p:cNvPr id="28" name="Shape 26"/>
          <p:cNvSpPr/>
          <p:nvPr/>
        </p:nvSpPr>
        <p:spPr>
          <a:xfrm>
            <a:off x="1097280" y="5074920"/>
            <a:ext cx="9966960" cy="777240"/>
          </a:xfrm>
          <a:prstGeom prst="roundRect">
            <a:avLst>
              <a:gd name="adj" fmla="val 7059"/>
            </a:avLst>
          </a:prstGeom>
          <a:solidFill>
            <a:srgbClr val="F9FAFB"/>
          </a:solidFill>
          <a:ln w="8890">
            <a:solidFill>
              <a:srgbClr val="D6E3EF"/>
            </a:solidFill>
            <a:prstDash val="solid"/>
          </a:ln>
        </p:spPr>
        <p:txBody>
          <a:bodyPr/>
          <a:lstStyle/>
          <a:p>
            <a:endParaRPr lang="zh-CN" altLang="en-US"/>
          </a:p>
        </p:txBody>
      </p:sp>
      <p:sp>
        <p:nvSpPr>
          <p:cNvPr id="29" name="Text 27"/>
          <p:cNvSpPr/>
          <p:nvPr/>
        </p:nvSpPr>
        <p:spPr>
          <a:xfrm>
            <a:off x="1325880" y="5321808"/>
            <a:ext cx="9509760" cy="228600"/>
          </a:xfrm>
          <a:prstGeom prst="rect">
            <a:avLst/>
          </a:prstGeom>
          <a:noFill/>
          <a:ln/>
        </p:spPr>
        <p:txBody>
          <a:bodyPr wrap="square" lIns="0" tIns="0" rIns="0" bIns="0" rtlCol="0" anchor="ctr">
            <a:noAutofit/>
          </a:bodyPr>
          <a:lstStyle/>
          <a:p>
            <a:pPr marL="0" indent="0" algn="ctr">
              <a:buNone/>
            </a:pPr>
            <a:r>
              <a:rPr lang="en-US" sz="1400" b="1" dirty="0">
                <a:solidFill>
                  <a:srgbClr val="12355B"/>
                </a:solidFill>
              </a:rPr>
              <a:t>Refusal boundary: the system will not answer governance, cyber, compensation, legal-proceedings, property, or unsupported cross-firm comparison questions.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384048" y="6510528"/>
            <a:ext cx="4937760" cy="182880"/>
          </a:xfrm>
          <a:prstGeom prst="rect">
            <a:avLst/>
          </a:prstGeom>
          <a:noFill/>
          <a:ln/>
        </p:spPr>
        <p:txBody>
          <a:bodyPr wrap="square" lIns="0" tIns="0" rIns="0" bIns="0" rtlCol="0" anchor="ctr"/>
          <a:lstStyle/>
          <a:p>
            <a:pPr marL="0" indent="0">
              <a:buNone/>
            </a:pPr>
            <a:r>
              <a:rPr lang="en-US" sz="850" dirty="0">
                <a:solidFill>
                  <a:srgbClr val="6B7280"/>
                </a:solidFill>
              </a:rPr>
              <a:t>AD698 · Financial Performance &amp; Risk RAG</a:t>
            </a:r>
            <a:endParaRPr lang="en-US" sz="850" dirty="0"/>
          </a:p>
        </p:txBody>
      </p:sp>
      <p:sp>
        <p:nvSpPr>
          <p:cNvPr id="3" name="Text 1"/>
          <p:cNvSpPr/>
          <p:nvPr/>
        </p:nvSpPr>
        <p:spPr>
          <a:xfrm>
            <a:off x="11548872" y="6473952"/>
            <a:ext cx="320040" cy="201168"/>
          </a:xfrm>
          <a:prstGeom prst="rect">
            <a:avLst/>
          </a:prstGeom>
          <a:noFill/>
          <a:ln/>
        </p:spPr>
        <p:txBody>
          <a:bodyPr wrap="square" lIns="0" tIns="0" rIns="0" bIns="0" rtlCol="0" anchor="ctr"/>
          <a:lstStyle/>
          <a:p>
            <a:pPr marL="0" indent="0" algn="r">
              <a:buNone/>
            </a:pPr>
            <a:r>
              <a:rPr lang="en-US" sz="900" dirty="0">
                <a:solidFill>
                  <a:srgbClr val="6B7280"/>
                </a:solidFill>
              </a:rPr>
              <a:t>04</a:t>
            </a:r>
            <a:endParaRPr lang="en-US" sz="900" dirty="0"/>
          </a:p>
        </p:txBody>
      </p:sp>
      <p:sp>
        <p:nvSpPr>
          <p:cNvPr id="4" name="Text 2"/>
          <p:cNvSpPr/>
          <p:nvPr/>
        </p:nvSpPr>
        <p:spPr>
          <a:xfrm>
            <a:off x="502920" y="347472"/>
            <a:ext cx="8961120" cy="411480"/>
          </a:xfrm>
          <a:prstGeom prst="rect">
            <a:avLst/>
          </a:prstGeom>
          <a:noFill/>
          <a:ln/>
        </p:spPr>
        <p:txBody>
          <a:bodyPr wrap="square" lIns="0" tIns="0" rIns="0" bIns="0" rtlCol="0" anchor="ctr"/>
          <a:lstStyle/>
          <a:p>
            <a:pPr marL="0" indent="0">
              <a:buNone/>
            </a:pPr>
            <a:r>
              <a:rPr lang="en-US" sz="2700" b="1" dirty="0">
                <a:solidFill>
                  <a:srgbClr val="12355B"/>
                </a:solidFill>
                <a:latin typeface="Aptos Display" pitchFamily="34" charset="0"/>
                <a:ea typeface="Aptos Display" pitchFamily="34" charset="-122"/>
                <a:cs typeface="Aptos Display" pitchFamily="34" charset="-120"/>
              </a:rPr>
              <a:t>End-to-end architecture</a:t>
            </a:r>
            <a:endParaRPr lang="en-US" sz="2700" dirty="0"/>
          </a:p>
        </p:txBody>
      </p:sp>
      <p:sp>
        <p:nvSpPr>
          <p:cNvPr id="5" name="Text 3"/>
          <p:cNvSpPr/>
          <p:nvPr/>
        </p:nvSpPr>
        <p:spPr>
          <a:xfrm>
            <a:off x="521208" y="786384"/>
            <a:ext cx="9326880" cy="274320"/>
          </a:xfrm>
          <a:prstGeom prst="rect">
            <a:avLst/>
          </a:prstGeom>
          <a:noFill/>
          <a:ln/>
        </p:spPr>
        <p:txBody>
          <a:bodyPr wrap="square" lIns="0" tIns="0" rIns="0" bIns="0" rtlCol="0" anchor="ctr"/>
          <a:lstStyle/>
          <a:p>
            <a:pPr marL="0" indent="0">
              <a:buNone/>
            </a:pPr>
            <a:r>
              <a:rPr lang="en-US" sz="1150" dirty="0">
                <a:solidFill>
                  <a:srgbClr val="6B7280"/>
                </a:solidFill>
              </a:rPr>
              <a:t>A cached pipeline from raw SEC HTML to grounded JSON answers.</a:t>
            </a:r>
            <a:endParaRPr lang="en-US" sz="1150" dirty="0"/>
          </a:p>
        </p:txBody>
      </p:sp>
      <p:sp>
        <p:nvSpPr>
          <p:cNvPr id="8" name="Shape 6"/>
          <p:cNvSpPr/>
          <p:nvPr/>
        </p:nvSpPr>
        <p:spPr>
          <a:xfrm>
            <a:off x="594360" y="1847088"/>
            <a:ext cx="1261872" cy="1143000"/>
          </a:xfrm>
          <a:prstGeom prst="roundRect">
            <a:avLst>
              <a:gd name="adj" fmla="val 4000"/>
            </a:avLst>
          </a:prstGeom>
          <a:solidFill>
            <a:srgbClr val="FFFFFF"/>
          </a:solidFill>
          <a:ln w="8890">
            <a:solidFill>
              <a:srgbClr val="CFD9E5"/>
            </a:solidFill>
            <a:prstDash val="solid"/>
          </a:ln>
        </p:spPr>
        <p:txBody>
          <a:bodyPr/>
          <a:lstStyle/>
          <a:p>
            <a:endParaRPr lang="zh-CN" altLang="en-US"/>
          </a:p>
        </p:txBody>
      </p:sp>
      <p:sp>
        <p:nvSpPr>
          <p:cNvPr id="9" name="Text 7"/>
          <p:cNvSpPr/>
          <p:nvPr/>
        </p:nvSpPr>
        <p:spPr>
          <a:xfrm>
            <a:off x="658368" y="2048256"/>
            <a:ext cx="1133856" cy="274320"/>
          </a:xfrm>
          <a:prstGeom prst="rect">
            <a:avLst/>
          </a:prstGeom>
          <a:noFill/>
          <a:ln/>
        </p:spPr>
        <p:txBody>
          <a:bodyPr wrap="square" lIns="0" tIns="0" rIns="0" bIns="0" rtlCol="0" anchor="ctr">
            <a:normAutofit/>
          </a:bodyPr>
          <a:lstStyle/>
          <a:p>
            <a:pPr marL="0" indent="0" algn="ctr">
              <a:buNone/>
            </a:pPr>
            <a:r>
              <a:rPr lang="en-US" sz="1150" b="1" dirty="0">
                <a:solidFill>
                  <a:srgbClr val="12355B"/>
                </a:solidFill>
              </a:rPr>
              <a:t>SEC 10-K HTML</a:t>
            </a:r>
            <a:endParaRPr lang="en-US" sz="1150" dirty="0"/>
          </a:p>
        </p:txBody>
      </p:sp>
      <p:sp>
        <p:nvSpPr>
          <p:cNvPr id="10" name="Text 8"/>
          <p:cNvSpPr/>
          <p:nvPr/>
        </p:nvSpPr>
        <p:spPr>
          <a:xfrm>
            <a:off x="667512" y="2468880"/>
            <a:ext cx="1115568" cy="320040"/>
          </a:xfrm>
          <a:prstGeom prst="rect">
            <a:avLst/>
          </a:prstGeom>
          <a:noFill/>
          <a:ln/>
        </p:spPr>
        <p:txBody>
          <a:bodyPr wrap="square" lIns="0" tIns="0" rIns="0" bIns="0" rtlCol="0" anchor="ctr">
            <a:normAutofit/>
          </a:bodyPr>
          <a:lstStyle/>
          <a:p>
            <a:pPr marL="0" indent="0" algn="ctr">
              <a:buNone/>
            </a:pPr>
            <a:r>
              <a:rPr lang="en-US" sz="840" dirty="0">
                <a:solidFill>
                  <a:srgbClr val="6B7280"/>
                </a:solidFill>
              </a:rPr>
              <a:t>Google Drive input</a:t>
            </a:r>
            <a:endParaRPr lang="en-US" sz="840" dirty="0"/>
          </a:p>
        </p:txBody>
      </p:sp>
      <p:sp>
        <p:nvSpPr>
          <p:cNvPr id="11" name="Shape 9"/>
          <p:cNvSpPr/>
          <p:nvPr/>
        </p:nvSpPr>
        <p:spPr>
          <a:xfrm>
            <a:off x="1865376" y="2423160"/>
            <a:ext cx="164592" cy="0"/>
          </a:xfrm>
          <a:prstGeom prst="line">
            <a:avLst/>
          </a:prstGeom>
          <a:noFill/>
          <a:ln w="19050">
            <a:solidFill>
              <a:srgbClr val="1F4E79"/>
            </a:solidFill>
            <a:prstDash val="solid"/>
            <a:headEnd type="none"/>
            <a:tailEnd type="triangle"/>
          </a:ln>
        </p:spPr>
        <p:txBody>
          <a:bodyPr/>
          <a:lstStyle/>
          <a:p>
            <a:endParaRPr lang="zh-CN" altLang="en-US"/>
          </a:p>
        </p:txBody>
      </p:sp>
      <p:sp>
        <p:nvSpPr>
          <p:cNvPr id="12" name="Shape 10"/>
          <p:cNvSpPr/>
          <p:nvPr/>
        </p:nvSpPr>
        <p:spPr>
          <a:xfrm>
            <a:off x="2057400" y="1847088"/>
            <a:ext cx="1261872" cy="1143000"/>
          </a:xfrm>
          <a:prstGeom prst="roundRect">
            <a:avLst>
              <a:gd name="adj" fmla="val 4000"/>
            </a:avLst>
          </a:prstGeom>
          <a:solidFill>
            <a:srgbClr val="FFFFFF"/>
          </a:solidFill>
          <a:ln w="8890">
            <a:solidFill>
              <a:srgbClr val="CFD9E5"/>
            </a:solidFill>
            <a:prstDash val="solid"/>
          </a:ln>
        </p:spPr>
        <p:txBody>
          <a:bodyPr/>
          <a:lstStyle/>
          <a:p>
            <a:endParaRPr lang="zh-CN" altLang="en-US"/>
          </a:p>
        </p:txBody>
      </p:sp>
      <p:sp>
        <p:nvSpPr>
          <p:cNvPr id="13" name="Text 11"/>
          <p:cNvSpPr/>
          <p:nvPr/>
        </p:nvSpPr>
        <p:spPr>
          <a:xfrm>
            <a:off x="2121408" y="2048256"/>
            <a:ext cx="1133856" cy="274320"/>
          </a:xfrm>
          <a:prstGeom prst="rect">
            <a:avLst/>
          </a:prstGeom>
          <a:noFill/>
          <a:ln/>
        </p:spPr>
        <p:txBody>
          <a:bodyPr wrap="square" lIns="0" tIns="0" rIns="0" bIns="0" rtlCol="0" anchor="ctr">
            <a:normAutofit/>
          </a:bodyPr>
          <a:lstStyle/>
          <a:p>
            <a:pPr marL="0" indent="0" algn="ctr">
              <a:buNone/>
            </a:pPr>
            <a:r>
              <a:rPr lang="en-US" sz="1150" b="1" dirty="0">
                <a:solidFill>
                  <a:srgbClr val="12355B"/>
                </a:solidFill>
              </a:rPr>
              <a:t>Extract Items</a:t>
            </a:r>
            <a:endParaRPr lang="en-US" sz="1150" dirty="0"/>
          </a:p>
        </p:txBody>
      </p:sp>
      <p:sp>
        <p:nvSpPr>
          <p:cNvPr id="14" name="Text 12"/>
          <p:cNvSpPr/>
          <p:nvPr/>
        </p:nvSpPr>
        <p:spPr>
          <a:xfrm>
            <a:off x="2130552" y="2468880"/>
            <a:ext cx="1115568" cy="320040"/>
          </a:xfrm>
          <a:prstGeom prst="rect">
            <a:avLst/>
          </a:prstGeom>
          <a:noFill/>
          <a:ln/>
        </p:spPr>
        <p:txBody>
          <a:bodyPr wrap="square" lIns="0" tIns="0" rIns="0" bIns="0" rtlCol="0" anchor="ctr">
            <a:normAutofit/>
          </a:bodyPr>
          <a:lstStyle/>
          <a:p>
            <a:pPr marL="0" indent="0" algn="ctr">
              <a:buNone/>
            </a:pPr>
            <a:r>
              <a:rPr lang="en-US" sz="840" dirty="0">
                <a:solidFill>
                  <a:srgbClr val="6B7280"/>
                </a:solidFill>
              </a:rPr>
              <a:t>6 / 7 / 7A / 8</a:t>
            </a:r>
            <a:endParaRPr lang="en-US" sz="840" dirty="0"/>
          </a:p>
        </p:txBody>
      </p:sp>
      <p:sp>
        <p:nvSpPr>
          <p:cNvPr id="15" name="Shape 13"/>
          <p:cNvSpPr/>
          <p:nvPr/>
        </p:nvSpPr>
        <p:spPr>
          <a:xfrm>
            <a:off x="3328416" y="2423160"/>
            <a:ext cx="164592" cy="0"/>
          </a:xfrm>
          <a:prstGeom prst="line">
            <a:avLst/>
          </a:prstGeom>
          <a:noFill/>
          <a:ln w="19050">
            <a:solidFill>
              <a:srgbClr val="1F4E79"/>
            </a:solidFill>
            <a:prstDash val="solid"/>
            <a:headEnd type="none"/>
            <a:tailEnd type="triangle"/>
          </a:ln>
        </p:spPr>
        <p:txBody>
          <a:bodyPr/>
          <a:lstStyle/>
          <a:p>
            <a:endParaRPr lang="zh-CN" altLang="en-US"/>
          </a:p>
        </p:txBody>
      </p:sp>
      <p:sp>
        <p:nvSpPr>
          <p:cNvPr id="16" name="Shape 14"/>
          <p:cNvSpPr/>
          <p:nvPr/>
        </p:nvSpPr>
        <p:spPr>
          <a:xfrm>
            <a:off x="3520440" y="1847088"/>
            <a:ext cx="1261872" cy="1143000"/>
          </a:xfrm>
          <a:prstGeom prst="roundRect">
            <a:avLst>
              <a:gd name="adj" fmla="val 4000"/>
            </a:avLst>
          </a:prstGeom>
          <a:solidFill>
            <a:srgbClr val="FFFFFF"/>
          </a:solidFill>
          <a:ln w="8890">
            <a:solidFill>
              <a:srgbClr val="CFD9E5"/>
            </a:solidFill>
            <a:prstDash val="solid"/>
          </a:ln>
        </p:spPr>
        <p:txBody>
          <a:bodyPr/>
          <a:lstStyle/>
          <a:p>
            <a:endParaRPr lang="zh-CN" altLang="en-US"/>
          </a:p>
        </p:txBody>
      </p:sp>
      <p:sp>
        <p:nvSpPr>
          <p:cNvPr id="17" name="Text 15"/>
          <p:cNvSpPr/>
          <p:nvPr/>
        </p:nvSpPr>
        <p:spPr>
          <a:xfrm>
            <a:off x="3584448" y="2048256"/>
            <a:ext cx="1133856" cy="274320"/>
          </a:xfrm>
          <a:prstGeom prst="rect">
            <a:avLst/>
          </a:prstGeom>
          <a:noFill/>
          <a:ln/>
        </p:spPr>
        <p:txBody>
          <a:bodyPr wrap="square" lIns="0" tIns="0" rIns="0" bIns="0" rtlCol="0" anchor="ctr">
            <a:normAutofit/>
          </a:bodyPr>
          <a:lstStyle/>
          <a:p>
            <a:pPr marL="0" indent="0" algn="ctr">
              <a:buNone/>
            </a:pPr>
            <a:r>
              <a:rPr lang="en-US" sz="1150" b="1" dirty="0">
                <a:solidFill>
                  <a:srgbClr val="12355B"/>
                </a:solidFill>
              </a:rPr>
              <a:t>Clean Text</a:t>
            </a:r>
            <a:endParaRPr lang="en-US" sz="1150" dirty="0"/>
          </a:p>
        </p:txBody>
      </p:sp>
      <p:sp>
        <p:nvSpPr>
          <p:cNvPr id="18" name="Text 16"/>
          <p:cNvSpPr/>
          <p:nvPr/>
        </p:nvSpPr>
        <p:spPr>
          <a:xfrm>
            <a:off x="3593592" y="2468880"/>
            <a:ext cx="1115568" cy="320040"/>
          </a:xfrm>
          <a:prstGeom prst="rect">
            <a:avLst/>
          </a:prstGeom>
          <a:noFill/>
          <a:ln/>
        </p:spPr>
        <p:txBody>
          <a:bodyPr wrap="square" lIns="0" tIns="0" rIns="0" bIns="0" rtlCol="0" anchor="ctr">
            <a:normAutofit/>
          </a:bodyPr>
          <a:lstStyle/>
          <a:p>
            <a:pPr marL="0" indent="0" algn="ctr">
              <a:buNone/>
            </a:pPr>
            <a:r>
              <a:rPr lang="en-US" sz="840" dirty="0">
                <a:solidFill>
                  <a:srgbClr val="6B7280"/>
                </a:solidFill>
              </a:rPr>
              <a:t>TOC · tables · signatures</a:t>
            </a:r>
            <a:endParaRPr lang="en-US" sz="840" dirty="0"/>
          </a:p>
        </p:txBody>
      </p:sp>
      <p:sp>
        <p:nvSpPr>
          <p:cNvPr id="19" name="Shape 17"/>
          <p:cNvSpPr/>
          <p:nvPr/>
        </p:nvSpPr>
        <p:spPr>
          <a:xfrm>
            <a:off x="4791456" y="2423160"/>
            <a:ext cx="164592" cy="0"/>
          </a:xfrm>
          <a:prstGeom prst="line">
            <a:avLst/>
          </a:prstGeom>
          <a:noFill/>
          <a:ln w="19050">
            <a:solidFill>
              <a:srgbClr val="1F4E79"/>
            </a:solidFill>
            <a:prstDash val="solid"/>
            <a:headEnd type="none"/>
            <a:tailEnd type="triangle"/>
          </a:ln>
        </p:spPr>
        <p:txBody>
          <a:bodyPr/>
          <a:lstStyle/>
          <a:p>
            <a:endParaRPr lang="zh-CN" altLang="en-US"/>
          </a:p>
        </p:txBody>
      </p:sp>
      <p:sp>
        <p:nvSpPr>
          <p:cNvPr id="20" name="Shape 18"/>
          <p:cNvSpPr/>
          <p:nvPr/>
        </p:nvSpPr>
        <p:spPr>
          <a:xfrm>
            <a:off x="4983480" y="1847088"/>
            <a:ext cx="1261872" cy="1143000"/>
          </a:xfrm>
          <a:prstGeom prst="roundRect">
            <a:avLst>
              <a:gd name="adj" fmla="val 4000"/>
            </a:avLst>
          </a:prstGeom>
          <a:solidFill>
            <a:srgbClr val="FFFFFF"/>
          </a:solidFill>
          <a:ln w="8890">
            <a:solidFill>
              <a:srgbClr val="CFD9E5"/>
            </a:solidFill>
            <a:prstDash val="solid"/>
          </a:ln>
        </p:spPr>
        <p:txBody>
          <a:bodyPr/>
          <a:lstStyle/>
          <a:p>
            <a:endParaRPr lang="zh-CN" altLang="en-US"/>
          </a:p>
        </p:txBody>
      </p:sp>
      <p:sp>
        <p:nvSpPr>
          <p:cNvPr id="21" name="Text 19"/>
          <p:cNvSpPr/>
          <p:nvPr/>
        </p:nvSpPr>
        <p:spPr>
          <a:xfrm>
            <a:off x="5047488" y="2048256"/>
            <a:ext cx="1133856" cy="274320"/>
          </a:xfrm>
          <a:prstGeom prst="rect">
            <a:avLst/>
          </a:prstGeom>
          <a:noFill/>
          <a:ln/>
        </p:spPr>
        <p:txBody>
          <a:bodyPr wrap="square" lIns="0" tIns="0" rIns="0" bIns="0" rtlCol="0" anchor="ctr">
            <a:normAutofit fontScale="92500" lnSpcReduction="20000"/>
          </a:bodyPr>
          <a:lstStyle/>
          <a:p>
            <a:pPr marL="0" indent="0" algn="ctr">
              <a:buNone/>
            </a:pPr>
            <a:r>
              <a:rPr lang="en-US" sz="1150" b="1" dirty="0">
                <a:solidFill>
                  <a:srgbClr val="12355B"/>
                </a:solidFill>
              </a:rPr>
              <a:t>Chunk + Metadata</a:t>
            </a:r>
            <a:endParaRPr lang="en-US" sz="1150" dirty="0"/>
          </a:p>
        </p:txBody>
      </p:sp>
      <p:sp>
        <p:nvSpPr>
          <p:cNvPr id="22" name="Text 20"/>
          <p:cNvSpPr/>
          <p:nvPr/>
        </p:nvSpPr>
        <p:spPr>
          <a:xfrm>
            <a:off x="5056632" y="2468880"/>
            <a:ext cx="1115568" cy="320040"/>
          </a:xfrm>
          <a:prstGeom prst="rect">
            <a:avLst/>
          </a:prstGeom>
          <a:noFill/>
          <a:ln/>
        </p:spPr>
        <p:txBody>
          <a:bodyPr wrap="square" lIns="0" tIns="0" rIns="0" bIns="0" rtlCol="0" anchor="ctr">
            <a:normAutofit/>
          </a:bodyPr>
          <a:lstStyle/>
          <a:p>
            <a:pPr marL="0" indent="0" algn="ctr">
              <a:buNone/>
            </a:pPr>
            <a:r>
              <a:rPr lang="en-US" sz="840" dirty="0">
                <a:solidFill>
                  <a:srgbClr val="6B7280"/>
                </a:solidFill>
              </a:rPr>
              <a:t>≈500 tok · 50 overlap</a:t>
            </a:r>
            <a:endParaRPr lang="en-US" sz="840" dirty="0"/>
          </a:p>
        </p:txBody>
      </p:sp>
      <p:sp>
        <p:nvSpPr>
          <p:cNvPr id="23" name="Shape 21"/>
          <p:cNvSpPr/>
          <p:nvPr/>
        </p:nvSpPr>
        <p:spPr>
          <a:xfrm>
            <a:off x="6254496" y="2423160"/>
            <a:ext cx="164592" cy="0"/>
          </a:xfrm>
          <a:prstGeom prst="line">
            <a:avLst/>
          </a:prstGeom>
          <a:noFill/>
          <a:ln w="19050">
            <a:solidFill>
              <a:srgbClr val="1F4E79"/>
            </a:solidFill>
            <a:prstDash val="solid"/>
            <a:headEnd type="none"/>
            <a:tailEnd type="triangle"/>
          </a:ln>
        </p:spPr>
        <p:txBody>
          <a:bodyPr/>
          <a:lstStyle/>
          <a:p>
            <a:endParaRPr lang="zh-CN" altLang="en-US"/>
          </a:p>
        </p:txBody>
      </p:sp>
      <p:sp>
        <p:nvSpPr>
          <p:cNvPr id="24" name="Shape 22"/>
          <p:cNvSpPr/>
          <p:nvPr/>
        </p:nvSpPr>
        <p:spPr>
          <a:xfrm>
            <a:off x="6446520" y="1847088"/>
            <a:ext cx="1261872" cy="1143000"/>
          </a:xfrm>
          <a:prstGeom prst="roundRect">
            <a:avLst>
              <a:gd name="adj" fmla="val 4000"/>
            </a:avLst>
          </a:prstGeom>
          <a:solidFill>
            <a:srgbClr val="FFFFFF"/>
          </a:solidFill>
          <a:ln w="8890">
            <a:solidFill>
              <a:srgbClr val="CFD9E5"/>
            </a:solidFill>
            <a:prstDash val="solid"/>
          </a:ln>
        </p:spPr>
        <p:txBody>
          <a:bodyPr/>
          <a:lstStyle/>
          <a:p>
            <a:endParaRPr lang="zh-CN" altLang="en-US"/>
          </a:p>
        </p:txBody>
      </p:sp>
      <p:sp>
        <p:nvSpPr>
          <p:cNvPr id="25" name="Text 23"/>
          <p:cNvSpPr/>
          <p:nvPr/>
        </p:nvSpPr>
        <p:spPr>
          <a:xfrm>
            <a:off x="6510528" y="2048256"/>
            <a:ext cx="1133856" cy="274320"/>
          </a:xfrm>
          <a:prstGeom prst="rect">
            <a:avLst/>
          </a:prstGeom>
          <a:noFill/>
          <a:ln/>
        </p:spPr>
        <p:txBody>
          <a:bodyPr wrap="square" lIns="0" tIns="0" rIns="0" bIns="0" rtlCol="0" anchor="ctr">
            <a:normAutofit/>
          </a:bodyPr>
          <a:lstStyle/>
          <a:p>
            <a:pPr marL="0" indent="0" algn="ctr">
              <a:buNone/>
            </a:pPr>
            <a:r>
              <a:rPr lang="en-US" sz="1150" b="1" dirty="0">
                <a:solidFill>
                  <a:srgbClr val="12355B"/>
                </a:solidFill>
              </a:rPr>
              <a:t>Embed</a:t>
            </a:r>
            <a:endParaRPr lang="en-US" sz="1150" dirty="0"/>
          </a:p>
        </p:txBody>
      </p:sp>
      <p:sp>
        <p:nvSpPr>
          <p:cNvPr id="26" name="Text 24"/>
          <p:cNvSpPr/>
          <p:nvPr/>
        </p:nvSpPr>
        <p:spPr>
          <a:xfrm>
            <a:off x="6519672" y="2468880"/>
            <a:ext cx="1115568" cy="320040"/>
          </a:xfrm>
          <a:prstGeom prst="rect">
            <a:avLst/>
          </a:prstGeom>
          <a:noFill/>
          <a:ln/>
        </p:spPr>
        <p:txBody>
          <a:bodyPr wrap="square" lIns="0" tIns="0" rIns="0" bIns="0" rtlCol="0" anchor="ctr">
            <a:normAutofit/>
          </a:bodyPr>
          <a:lstStyle/>
          <a:p>
            <a:pPr marL="0" indent="0" algn="ctr">
              <a:buNone/>
            </a:pPr>
            <a:r>
              <a:rPr lang="en-US" sz="840" dirty="0">
                <a:solidFill>
                  <a:srgbClr val="6B7280"/>
                </a:solidFill>
              </a:rPr>
              <a:t>BGE-small · 384 dim</a:t>
            </a:r>
            <a:endParaRPr lang="en-US" sz="840" dirty="0"/>
          </a:p>
        </p:txBody>
      </p:sp>
      <p:sp>
        <p:nvSpPr>
          <p:cNvPr id="27" name="Shape 25"/>
          <p:cNvSpPr/>
          <p:nvPr/>
        </p:nvSpPr>
        <p:spPr>
          <a:xfrm>
            <a:off x="7717536" y="2423160"/>
            <a:ext cx="164592" cy="0"/>
          </a:xfrm>
          <a:prstGeom prst="line">
            <a:avLst/>
          </a:prstGeom>
          <a:noFill/>
          <a:ln w="19050">
            <a:solidFill>
              <a:srgbClr val="1F4E79"/>
            </a:solidFill>
            <a:prstDash val="solid"/>
            <a:headEnd type="none"/>
            <a:tailEnd type="triangle"/>
          </a:ln>
        </p:spPr>
        <p:txBody>
          <a:bodyPr/>
          <a:lstStyle/>
          <a:p>
            <a:endParaRPr lang="zh-CN" altLang="en-US"/>
          </a:p>
        </p:txBody>
      </p:sp>
      <p:sp>
        <p:nvSpPr>
          <p:cNvPr id="28" name="Shape 26"/>
          <p:cNvSpPr/>
          <p:nvPr/>
        </p:nvSpPr>
        <p:spPr>
          <a:xfrm>
            <a:off x="7909560" y="1847088"/>
            <a:ext cx="1261872" cy="1143000"/>
          </a:xfrm>
          <a:prstGeom prst="roundRect">
            <a:avLst>
              <a:gd name="adj" fmla="val 4000"/>
            </a:avLst>
          </a:prstGeom>
          <a:solidFill>
            <a:srgbClr val="E9F7EF"/>
          </a:solidFill>
          <a:ln w="8890">
            <a:solidFill>
              <a:srgbClr val="A9D6B7"/>
            </a:solidFill>
            <a:prstDash val="solid"/>
          </a:ln>
        </p:spPr>
        <p:txBody>
          <a:bodyPr/>
          <a:lstStyle/>
          <a:p>
            <a:endParaRPr lang="zh-CN" altLang="en-US"/>
          </a:p>
        </p:txBody>
      </p:sp>
      <p:sp>
        <p:nvSpPr>
          <p:cNvPr id="29" name="Text 27"/>
          <p:cNvSpPr/>
          <p:nvPr/>
        </p:nvSpPr>
        <p:spPr>
          <a:xfrm>
            <a:off x="7973568" y="2048256"/>
            <a:ext cx="1133856" cy="274320"/>
          </a:xfrm>
          <a:prstGeom prst="rect">
            <a:avLst/>
          </a:prstGeom>
          <a:noFill/>
          <a:ln/>
        </p:spPr>
        <p:txBody>
          <a:bodyPr wrap="square" lIns="0" tIns="0" rIns="0" bIns="0" rtlCol="0" anchor="ctr">
            <a:normAutofit/>
          </a:bodyPr>
          <a:lstStyle/>
          <a:p>
            <a:pPr marL="0" indent="0" algn="ctr">
              <a:buNone/>
            </a:pPr>
            <a:r>
              <a:rPr lang="en-US" sz="1150" b="1" dirty="0">
                <a:solidFill>
                  <a:srgbClr val="2E7D32"/>
                </a:solidFill>
              </a:rPr>
              <a:t>Retrieve + Filter</a:t>
            </a:r>
            <a:endParaRPr lang="en-US" sz="1150" dirty="0"/>
          </a:p>
        </p:txBody>
      </p:sp>
      <p:sp>
        <p:nvSpPr>
          <p:cNvPr id="30" name="Text 28"/>
          <p:cNvSpPr/>
          <p:nvPr/>
        </p:nvSpPr>
        <p:spPr>
          <a:xfrm>
            <a:off x="7982712" y="2468880"/>
            <a:ext cx="1115568" cy="320040"/>
          </a:xfrm>
          <a:prstGeom prst="rect">
            <a:avLst/>
          </a:prstGeom>
          <a:noFill/>
          <a:ln/>
        </p:spPr>
        <p:txBody>
          <a:bodyPr wrap="square" lIns="0" tIns="0" rIns="0" bIns="0" rtlCol="0" anchor="ctr">
            <a:normAutofit/>
          </a:bodyPr>
          <a:lstStyle/>
          <a:p>
            <a:pPr marL="0" indent="0" algn="ctr">
              <a:buNone/>
            </a:pPr>
            <a:r>
              <a:rPr lang="en-US" sz="840" dirty="0">
                <a:solidFill>
                  <a:srgbClr val="6B7280"/>
                </a:solidFill>
              </a:rPr>
              <a:t>cosine + allow-list</a:t>
            </a:r>
            <a:endParaRPr lang="en-US" sz="840" dirty="0"/>
          </a:p>
        </p:txBody>
      </p:sp>
      <p:sp>
        <p:nvSpPr>
          <p:cNvPr id="31" name="Shape 29"/>
          <p:cNvSpPr/>
          <p:nvPr/>
        </p:nvSpPr>
        <p:spPr>
          <a:xfrm>
            <a:off x="9180576" y="2423160"/>
            <a:ext cx="164592" cy="0"/>
          </a:xfrm>
          <a:prstGeom prst="line">
            <a:avLst/>
          </a:prstGeom>
          <a:noFill/>
          <a:ln w="19050">
            <a:solidFill>
              <a:srgbClr val="1F4E79"/>
            </a:solidFill>
            <a:prstDash val="solid"/>
            <a:headEnd type="none"/>
            <a:tailEnd type="triangle"/>
          </a:ln>
        </p:spPr>
        <p:txBody>
          <a:bodyPr/>
          <a:lstStyle/>
          <a:p>
            <a:endParaRPr lang="zh-CN" altLang="en-US"/>
          </a:p>
        </p:txBody>
      </p:sp>
      <p:sp>
        <p:nvSpPr>
          <p:cNvPr id="32" name="Shape 30"/>
          <p:cNvSpPr/>
          <p:nvPr/>
        </p:nvSpPr>
        <p:spPr>
          <a:xfrm>
            <a:off x="9372600" y="1847088"/>
            <a:ext cx="1261872" cy="1143000"/>
          </a:xfrm>
          <a:prstGeom prst="roundRect">
            <a:avLst>
              <a:gd name="adj" fmla="val 4000"/>
            </a:avLst>
          </a:prstGeom>
          <a:solidFill>
            <a:srgbClr val="FFFFFF"/>
          </a:solidFill>
          <a:ln w="8890">
            <a:solidFill>
              <a:srgbClr val="CFD9E5"/>
            </a:solidFill>
            <a:prstDash val="solid"/>
          </a:ln>
        </p:spPr>
        <p:txBody>
          <a:bodyPr/>
          <a:lstStyle/>
          <a:p>
            <a:endParaRPr lang="zh-CN" altLang="en-US"/>
          </a:p>
        </p:txBody>
      </p:sp>
      <p:sp>
        <p:nvSpPr>
          <p:cNvPr id="33" name="Text 31"/>
          <p:cNvSpPr/>
          <p:nvPr/>
        </p:nvSpPr>
        <p:spPr>
          <a:xfrm>
            <a:off x="9436608" y="2048256"/>
            <a:ext cx="1133856" cy="274320"/>
          </a:xfrm>
          <a:prstGeom prst="rect">
            <a:avLst/>
          </a:prstGeom>
          <a:noFill/>
          <a:ln/>
        </p:spPr>
        <p:txBody>
          <a:bodyPr wrap="square" lIns="0" tIns="0" rIns="0" bIns="0" rtlCol="0" anchor="ctr">
            <a:normAutofit/>
          </a:bodyPr>
          <a:lstStyle/>
          <a:p>
            <a:pPr marL="0" indent="0" algn="ctr">
              <a:buNone/>
            </a:pPr>
            <a:r>
              <a:rPr lang="en-US" sz="1150" b="1" dirty="0">
                <a:solidFill>
                  <a:srgbClr val="12355B"/>
                </a:solidFill>
              </a:rPr>
              <a:t>Generate JSON</a:t>
            </a:r>
            <a:endParaRPr lang="en-US" sz="1150" dirty="0"/>
          </a:p>
        </p:txBody>
      </p:sp>
      <p:sp>
        <p:nvSpPr>
          <p:cNvPr id="34" name="Text 32"/>
          <p:cNvSpPr/>
          <p:nvPr/>
        </p:nvSpPr>
        <p:spPr>
          <a:xfrm>
            <a:off x="9445752" y="2468880"/>
            <a:ext cx="1115568" cy="320040"/>
          </a:xfrm>
          <a:prstGeom prst="rect">
            <a:avLst/>
          </a:prstGeom>
          <a:noFill/>
          <a:ln/>
        </p:spPr>
        <p:txBody>
          <a:bodyPr wrap="square" lIns="0" tIns="0" rIns="0" bIns="0" rtlCol="0" anchor="ctr">
            <a:normAutofit/>
          </a:bodyPr>
          <a:lstStyle/>
          <a:p>
            <a:pPr marL="0" indent="0" algn="ctr">
              <a:buNone/>
            </a:pPr>
            <a:r>
              <a:rPr lang="en-US" sz="840" dirty="0">
                <a:solidFill>
                  <a:srgbClr val="6B7280"/>
                </a:solidFill>
              </a:rPr>
              <a:t>answer · citations · refused</a:t>
            </a:r>
            <a:endParaRPr lang="en-US" sz="840" dirty="0"/>
          </a:p>
        </p:txBody>
      </p:sp>
      <p:sp>
        <p:nvSpPr>
          <p:cNvPr id="35" name="Shape 33"/>
          <p:cNvSpPr/>
          <p:nvPr/>
        </p:nvSpPr>
        <p:spPr>
          <a:xfrm>
            <a:off x="10643616" y="2423160"/>
            <a:ext cx="164592" cy="0"/>
          </a:xfrm>
          <a:prstGeom prst="line">
            <a:avLst/>
          </a:prstGeom>
          <a:noFill/>
          <a:ln w="19050">
            <a:solidFill>
              <a:srgbClr val="1F4E79"/>
            </a:solidFill>
            <a:prstDash val="solid"/>
            <a:headEnd type="none"/>
            <a:tailEnd type="triangle"/>
          </a:ln>
        </p:spPr>
        <p:txBody>
          <a:bodyPr/>
          <a:lstStyle/>
          <a:p>
            <a:endParaRPr lang="zh-CN" altLang="en-US"/>
          </a:p>
        </p:txBody>
      </p:sp>
      <p:sp>
        <p:nvSpPr>
          <p:cNvPr id="36" name="Shape 34"/>
          <p:cNvSpPr/>
          <p:nvPr/>
        </p:nvSpPr>
        <p:spPr>
          <a:xfrm>
            <a:off x="10835640" y="1847088"/>
            <a:ext cx="1261872" cy="1143000"/>
          </a:xfrm>
          <a:prstGeom prst="roundRect">
            <a:avLst>
              <a:gd name="adj" fmla="val 4000"/>
            </a:avLst>
          </a:prstGeom>
          <a:solidFill>
            <a:srgbClr val="FFFFFF"/>
          </a:solidFill>
          <a:ln w="8890">
            <a:solidFill>
              <a:srgbClr val="CFD9E5"/>
            </a:solidFill>
            <a:prstDash val="solid"/>
          </a:ln>
        </p:spPr>
        <p:txBody>
          <a:bodyPr/>
          <a:lstStyle/>
          <a:p>
            <a:endParaRPr lang="zh-CN" altLang="en-US"/>
          </a:p>
        </p:txBody>
      </p:sp>
      <p:sp>
        <p:nvSpPr>
          <p:cNvPr id="37" name="Text 35"/>
          <p:cNvSpPr/>
          <p:nvPr/>
        </p:nvSpPr>
        <p:spPr>
          <a:xfrm>
            <a:off x="10899648" y="2048256"/>
            <a:ext cx="1133856" cy="274320"/>
          </a:xfrm>
          <a:prstGeom prst="rect">
            <a:avLst/>
          </a:prstGeom>
          <a:noFill/>
          <a:ln/>
        </p:spPr>
        <p:txBody>
          <a:bodyPr wrap="square" lIns="0" tIns="0" rIns="0" bIns="0" rtlCol="0" anchor="ctr">
            <a:normAutofit/>
          </a:bodyPr>
          <a:lstStyle/>
          <a:p>
            <a:pPr marL="0" indent="0" algn="ctr">
              <a:buNone/>
            </a:pPr>
            <a:r>
              <a:rPr lang="en-US" sz="1150" b="1" dirty="0">
                <a:solidFill>
                  <a:srgbClr val="12355B"/>
                </a:solidFill>
              </a:rPr>
              <a:t>Evaluate</a:t>
            </a:r>
            <a:endParaRPr lang="en-US" sz="1150" dirty="0"/>
          </a:p>
        </p:txBody>
      </p:sp>
      <p:sp>
        <p:nvSpPr>
          <p:cNvPr id="38" name="Text 36"/>
          <p:cNvSpPr/>
          <p:nvPr/>
        </p:nvSpPr>
        <p:spPr>
          <a:xfrm>
            <a:off x="10908792" y="2468880"/>
            <a:ext cx="1115568" cy="320040"/>
          </a:xfrm>
          <a:prstGeom prst="rect">
            <a:avLst/>
          </a:prstGeom>
          <a:noFill/>
          <a:ln/>
        </p:spPr>
        <p:txBody>
          <a:bodyPr wrap="square" lIns="0" tIns="0" rIns="0" bIns="0" rtlCol="0" anchor="ctr">
            <a:normAutofit/>
          </a:bodyPr>
          <a:lstStyle/>
          <a:p>
            <a:pPr marL="0" indent="0" algn="ctr">
              <a:buNone/>
            </a:pPr>
            <a:r>
              <a:rPr lang="en-US" sz="840" dirty="0">
                <a:solidFill>
                  <a:srgbClr val="6B7280"/>
                </a:solidFill>
              </a:rPr>
              <a:t>Hit@k · leakage · hallucination</a:t>
            </a:r>
            <a:endParaRPr lang="en-US" sz="840" dirty="0"/>
          </a:p>
        </p:txBody>
      </p:sp>
      <p:sp>
        <p:nvSpPr>
          <p:cNvPr id="39" name="Shape 37"/>
          <p:cNvSpPr/>
          <p:nvPr/>
        </p:nvSpPr>
        <p:spPr>
          <a:xfrm>
            <a:off x="1051560" y="3977640"/>
            <a:ext cx="2834640" cy="1097280"/>
          </a:xfrm>
          <a:prstGeom prst="roundRect">
            <a:avLst>
              <a:gd name="adj" fmla="val 4167"/>
            </a:avLst>
          </a:prstGeom>
          <a:solidFill>
            <a:srgbClr val="EEF5FB"/>
          </a:solidFill>
          <a:ln w="8890">
            <a:solidFill>
              <a:srgbClr val="CFE1F2"/>
            </a:solidFill>
            <a:prstDash val="solid"/>
          </a:ln>
        </p:spPr>
        <p:txBody>
          <a:bodyPr/>
          <a:lstStyle/>
          <a:p>
            <a:endParaRPr lang="zh-CN" altLang="en-US"/>
          </a:p>
        </p:txBody>
      </p:sp>
      <p:sp>
        <p:nvSpPr>
          <p:cNvPr id="40" name="Text 38"/>
          <p:cNvSpPr/>
          <p:nvPr/>
        </p:nvSpPr>
        <p:spPr>
          <a:xfrm>
            <a:off x="1280160" y="4187952"/>
            <a:ext cx="2377440" cy="201168"/>
          </a:xfrm>
          <a:prstGeom prst="rect">
            <a:avLst/>
          </a:prstGeom>
          <a:noFill/>
          <a:ln/>
        </p:spPr>
        <p:txBody>
          <a:bodyPr wrap="square" lIns="0" tIns="0" rIns="0" bIns="0" rtlCol="0" anchor="ctr"/>
          <a:lstStyle/>
          <a:p>
            <a:pPr marL="0" indent="0" algn="ctr">
              <a:buNone/>
            </a:pPr>
            <a:r>
              <a:rPr lang="en-US" sz="1300" b="1" dirty="0">
                <a:solidFill>
                  <a:srgbClr val="1F4E79"/>
                </a:solidFill>
              </a:rPr>
              <a:t>Design principle</a:t>
            </a:r>
            <a:endParaRPr lang="en-US" sz="1300" dirty="0"/>
          </a:p>
        </p:txBody>
      </p:sp>
      <p:sp>
        <p:nvSpPr>
          <p:cNvPr id="41" name="Text 39"/>
          <p:cNvSpPr/>
          <p:nvPr/>
        </p:nvSpPr>
        <p:spPr>
          <a:xfrm>
            <a:off x="1234440" y="4553712"/>
            <a:ext cx="2468880" cy="219456"/>
          </a:xfrm>
          <a:prstGeom prst="rect">
            <a:avLst/>
          </a:prstGeom>
          <a:noFill/>
          <a:ln/>
        </p:spPr>
        <p:txBody>
          <a:bodyPr wrap="square" lIns="0" tIns="0" rIns="0" bIns="0" rtlCol="0" anchor="ctr"/>
          <a:lstStyle/>
          <a:p>
            <a:pPr marL="0" indent="0" algn="ctr">
              <a:buNone/>
            </a:pPr>
            <a:r>
              <a:rPr lang="en-US" sz="1350" b="1" dirty="0">
                <a:solidFill>
                  <a:srgbClr val="12355B"/>
                </a:solidFill>
              </a:rPr>
              <a:t>The LLM never sees out-of-scope chunks.</a:t>
            </a:r>
            <a:endParaRPr lang="en-US" sz="1350" dirty="0"/>
          </a:p>
        </p:txBody>
      </p:sp>
      <p:sp>
        <p:nvSpPr>
          <p:cNvPr id="42" name="Shape 40"/>
          <p:cNvSpPr/>
          <p:nvPr/>
        </p:nvSpPr>
        <p:spPr>
          <a:xfrm>
            <a:off x="4572000" y="3977640"/>
            <a:ext cx="2834640" cy="1097280"/>
          </a:xfrm>
          <a:prstGeom prst="roundRect">
            <a:avLst>
              <a:gd name="adj" fmla="val 4167"/>
            </a:avLst>
          </a:prstGeom>
          <a:solidFill>
            <a:srgbClr val="FDF7E7"/>
          </a:solidFill>
          <a:ln w="8890">
            <a:solidFill>
              <a:srgbClr val="F4D796"/>
            </a:solidFill>
            <a:prstDash val="solid"/>
          </a:ln>
        </p:spPr>
        <p:txBody>
          <a:bodyPr/>
          <a:lstStyle/>
          <a:p>
            <a:endParaRPr lang="zh-CN" altLang="en-US"/>
          </a:p>
        </p:txBody>
      </p:sp>
      <p:sp>
        <p:nvSpPr>
          <p:cNvPr id="43" name="Text 41"/>
          <p:cNvSpPr/>
          <p:nvPr/>
        </p:nvSpPr>
        <p:spPr>
          <a:xfrm>
            <a:off x="4818888" y="4187952"/>
            <a:ext cx="2331720" cy="201168"/>
          </a:xfrm>
          <a:prstGeom prst="rect">
            <a:avLst/>
          </a:prstGeom>
          <a:noFill/>
          <a:ln/>
        </p:spPr>
        <p:txBody>
          <a:bodyPr wrap="square" lIns="0" tIns="0" rIns="0" bIns="0" rtlCol="0" anchor="ctr"/>
          <a:lstStyle/>
          <a:p>
            <a:pPr marL="0" indent="0" algn="ctr">
              <a:buNone/>
            </a:pPr>
            <a:r>
              <a:rPr lang="en-US" sz="1300" b="1" dirty="0">
                <a:solidFill>
                  <a:srgbClr val="E59E19"/>
                </a:solidFill>
              </a:rPr>
              <a:t>Caching</a:t>
            </a:r>
            <a:endParaRPr lang="en-US" sz="1300" dirty="0"/>
          </a:p>
        </p:txBody>
      </p:sp>
      <p:sp>
        <p:nvSpPr>
          <p:cNvPr id="44" name="Text 42"/>
          <p:cNvSpPr/>
          <p:nvPr/>
        </p:nvSpPr>
        <p:spPr>
          <a:xfrm>
            <a:off x="4828032" y="4498848"/>
            <a:ext cx="2331720" cy="347472"/>
          </a:xfrm>
          <a:prstGeom prst="rect">
            <a:avLst/>
          </a:prstGeom>
          <a:noFill/>
          <a:ln/>
        </p:spPr>
        <p:txBody>
          <a:bodyPr wrap="square" lIns="127" tIns="127" rIns="127" bIns="127" rtlCol="0" anchor="ctr">
            <a:noAutofit/>
          </a:bodyPr>
          <a:lstStyle/>
          <a:p>
            <a:pPr marL="0" indent="0" algn="ctr">
              <a:buNone/>
            </a:pPr>
            <a:r>
              <a:rPr lang="en-US" sz="1200" dirty="0">
                <a:solidFill>
                  <a:srgbClr val="111827"/>
                </a:solidFill>
              </a:rPr>
              <a:t>Each stage writes files so later stages can rerun independently.</a:t>
            </a:r>
            <a:endParaRPr lang="en-US" sz="1200" dirty="0"/>
          </a:p>
        </p:txBody>
      </p:sp>
      <p:sp>
        <p:nvSpPr>
          <p:cNvPr id="45" name="Shape 43"/>
          <p:cNvSpPr/>
          <p:nvPr/>
        </p:nvSpPr>
        <p:spPr>
          <a:xfrm>
            <a:off x="8092440" y="3977640"/>
            <a:ext cx="2834640" cy="1097280"/>
          </a:xfrm>
          <a:prstGeom prst="roundRect">
            <a:avLst>
              <a:gd name="adj" fmla="val 4167"/>
            </a:avLst>
          </a:prstGeom>
          <a:solidFill>
            <a:srgbClr val="F0FDF4"/>
          </a:solidFill>
          <a:ln w="8890">
            <a:solidFill>
              <a:srgbClr val="B7DEC3"/>
            </a:solidFill>
            <a:prstDash val="solid"/>
          </a:ln>
        </p:spPr>
        <p:txBody>
          <a:bodyPr/>
          <a:lstStyle/>
          <a:p>
            <a:endParaRPr lang="zh-CN" altLang="en-US"/>
          </a:p>
        </p:txBody>
      </p:sp>
      <p:sp>
        <p:nvSpPr>
          <p:cNvPr id="46" name="Text 44"/>
          <p:cNvSpPr/>
          <p:nvPr/>
        </p:nvSpPr>
        <p:spPr>
          <a:xfrm>
            <a:off x="8275320" y="4187952"/>
            <a:ext cx="2468880" cy="201168"/>
          </a:xfrm>
          <a:prstGeom prst="rect">
            <a:avLst/>
          </a:prstGeom>
          <a:noFill/>
          <a:ln/>
        </p:spPr>
        <p:txBody>
          <a:bodyPr wrap="square" lIns="0" tIns="0" rIns="0" bIns="0" rtlCol="0" anchor="ctr"/>
          <a:lstStyle/>
          <a:p>
            <a:pPr marL="0" indent="0" algn="ctr">
              <a:buNone/>
            </a:pPr>
            <a:r>
              <a:rPr lang="en-US" sz="1300" b="1" dirty="0">
                <a:solidFill>
                  <a:srgbClr val="2E7D32"/>
                </a:solidFill>
              </a:rPr>
              <a:t>Output contract</a:t>
            </a:r>
            <a:endParaRPr lang="en-US" sz="1300" dirty="0"/>
          </a:p>
        </p:txBody>
      </p:sp>
      <p:sp>
        <p:nvSpPr>
          <p:cNvPr id="47" name="Text 45"/>
          <p:cNvSpPr/>
          <p:nvPr/>
        </p:nvSpPr>
        <p:spPr>
          <a:xfrm>
            <a:off x="8357616" y="4498848"/>
            <a:ext cx="2286000" cy="347472"/>
          </a:xfrm>
          <a:prstGeom prst="rect">
            <a:avLst/>
          </a:prstGeom>
          <a:noFill/>
          <a:ln/>
        </p:spPr>
        <p:txBody>
          <a:bodyPr wrap="square" lIns="127" tIns="127" rIns="127" bIns="127" rtlCol="0" anchor="ctr">
            <a:noAutofit/>
          </a:bodyPr>
          <a:lstStyle/>
          <a:p>
            <a:pPr marL="0" indent="0" algn="ctr">
              <a:buNone/>
            </a:pPr>
            <a:r>
              <a:rPr lang="en-US" sz="1200" dirty="0">
                <a:solidFill>
                  <a:srgbClr val="111827"/>
                </a:solidFill>
              </a:rPr>
              <a:t>{ answer, citations, refused }</a:t>
            </a:r>
            <a:endParaRPr lang="en-US" sz="1200" dirty="0"/>
          </a:p>
          <a:p>
            <a:pPr marL="0" indent="0" algn="ctr">
              <a:buNone/>
            </a:pPr>
            <a:r>
              <a:rPr lang="en-US" sz="1200" dirty="0">
                <a:solidFill>
                  <a:srgbClr val="111827"/>
                </a:solidFill>
              </a:rPr>
              <a:t>with exact chunk IDs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384048" y="6510528"/>
            <a:ext cx="4937760" cy="182880"/>
          </a:xfrm>
          <a:prstGeom prst="rect">
            <a:avLst/>
          </a:prstGeom>
          <a:noFill/>
          <a:ln/>
        </p:spPr>
        <p:txBody>
          <a:bodyPr wrap="square" lIns="0" tIns="0" rIns="0" bIns="0" rtlCol="0" anchor="ctr"/>
          <a:lstStyle/>
          <a:p>
            <a:r>
              <a:rPr lang="en-US" altLang="zh-CN" sz="850" dirty="0">
                <a:solidFill>
                  <a:srgbClr val="6B7280"/>
                </a:solidFill>
              </a:rPr>
              <a:t>AD 698 · Applied Generative AI for Business Analytics</a:t>
            </a:r>
          </a:p>
        </p:txBody>
      </p:sp>
      <p:sp>
        <p:nvSpPr>
          <p:cNvPr id="3" name="Text 1"/>
          <p:cNvSpPr/>
          <p:nvPr/>
        </p:nvSpPr>
        <p:spPr>
          <a:xfrm>
            <a:off x="11548872" y="6473952"/>
            <a:ext cx="320040" cy="201168"/>
          </a:xfrm>
          <a:prstGeom prst="rect">
            <a:avLst/>
          </a:prstGeom>
          <a:noFill/>
          <a:ln/>
        </p:spPr>
        <p:txBody>
          <a:bodyPr wrap="square" lIns="0" tIns="0" rIns="0" bIns="0" rtlCol="0" anchor="ctr"/>
          <a:lstStyle/>
          <a:p>
            <a:pPr marL="0" indent="0" algn="r">
              <a:buNone/>
            </a:pPr>
            <a:r>
              <a:rPr lang="en-US" sz="900" dirty="0">
                <a:solidFill>
                  <a:srgbClr val="6B7280"/>
                </a:solidFill>
              </a:rPr>
              <a:t>05</a:t>
            </a:r>
            <a:endParaRPr lang="en-US" sz="900" dirty="0"/>
          </a:p>
        </p:txBody>
      </p:sp>
      <p:sp>
        <p:nvSpPr>
          <p:cNvPr id="4" name="Text 2"/>
          <p:cNvSpPr/>
          <p:nvPr/>
        </p:nvSpPr>
        <p:spPr>
          <a:xfrm>
            <a:off x="502920" y="347472"/>
            <a:ext cx="8961120" cy="411480"/>
          </a:xfrm>
          <a:prstGeom prst="rect">
            <a:avLst/>
          </a:prstGeom>
          <a:noFill/>
          <a:ln/>
        </p:spPr>
        <p:txBody>
          <a:bodyPr wrap="square" lIns="0" tIns="0" rIns="0" bIns="0" rtlCol="0" anchor="ctr"/>
          <a:lstStyle/>
          <a:p>
            <a:pPr marL="0" indent="0">
              <a:buNone/>
            </a:pPr>
            <a:r>
              <a:rPr lang="en-US" sz="2700" b="1" dirty="0">
                <a:solidFill>
                  <a:srgbClr val="12355B"/>
                </a:solidFill>
                <a:latin typeface="Aptos Display" pitchFamily="34" charset="0"/>
                <a:ea typeface="Aptos Display" pitchFamily="34" charset="-122"/>
                <a:cs typeface="Aptos Display" pitchFamily="34" charset="-120"/>
              </a:rPr>
              <a:t>Extraction, cleaning, and chunk engineering</a:t>
            </a:r>
            <a:endParaRPr lang="en-US" sz="2700" dirty="0"/>
          </a:p>
        </p:txBody>
      </p:sp>
      <p:sp>
        <p:nvSpPr>
          <p:cNvPr id="5" name="Text 3"/>
          <p:cNvSpPr/>
          <p:nvPr/>
        </p:nvSpPr>
        <p:spPr>
          <a:xfrm>
            <a:off x="521208" y="786384"/>
            <a:ext cx="9326880" cy="274320"/>
          </a:xfrm>
          <a:prstGeom prst="rect">
            <a:avLst/>
          </a:prstGeom>
          <a:noFill/>
          <a:ln/>
        </p:spPr>
        <p:txBody>
          <a:bodyPr wrap="square" lIns="0" tIns="0" rIns="0" bIns="0" rtlCol="0" anchor="ctr"/>
          <a:lstStyle/>
          <a:p>
            <a:pPr marL="0" indent="0">
              <a:buNone/>
            </a:pPr>
            <a:r>
              <a:rPr lang="en-US" sz="1150" dirty="0">
                <a:solidFill>
                  <a:srgbClr val="6B7280"/>
                </a:solidFill>
              </a:rPr>
              <a:t>The quality of RAG starts before embeddings: section extraction must be reliable.</a:t>
            </a:r>
            <a:endParaRPr lang="en-US" sz="1150" dirty="0"/>
          </a:p>
        </p:txBody>
      </p:sp>
      <p:sp>
        <p:nvSpPr>
          <p:cNvPr id="8" name="Shape 6"/>
          <p:cNvSpPr/>
          <p:nvPr/>
        </p:nvSpPr>
        <p:spPr>
          <a:xfrm>
            <a:off x="777240" y="1463040"/>
            <a:ext cx="2926080" cy="3474720"/>
          </a:xfrm>
          <a:prstGeom prst="roundRect">
            <a:avLst>
              <a:gd name="adj" fmla="val 2188"/>
            </a:avLst>
          </a:prstGeom>
          <a:solidFill>
            <a:srgbClr val="FFF7ED"/>
          </a:solidFill>
          <a:ln w="10160">
            <a:solidFill>
              <a:srgbClr val="F3CDA3"/>
            </a:solidFill>
            <a:prstDash val="solid"/>
          </a:ln>
        </p:spPr>
        <p:txBody>
          <a:bodyPr/>
          <a:lstStyle/>
          <a:p>
            <a:endParaRPr lang="zh-CN" altLang="en-US"/>
          </a:p>
        </p:txBody>
      </p:sp>
      <p:sp>
        <p:nvSpPr>
          <p:cNvPr id="9" name="Text 7"/>
          <p:cNvSpPr/>
          <p:nvPr/>
        </p:nvSpPr>
        <p:spPr>
          <a:xfrm>
            <a:off x="1024128" y="1691640"/>
            <a:ext cx="2432304" cy="228600"/>
          </a:xfrm>
          <a:prstGeom prst="rect">
            <a:avLst/>
          </a:prstGeom>
          <a:noFill/>
          <a:ln/>
        </p:spPr>
        <p:txBody>
          <a:bodyPr wrap="square" lIns="0" tIns="0" rIns="0" bIns="0" rtlCol="0" anchor="ctr"/>
          <a:lstStyle/>
          <a:p>
            <a:pPr marL="0" indent="0" algn="ctr">
              <a:buNone/>
            </a:pPr>
            <a:r>
              <a:rPr lang="en-US" sz="1600" b="1" dirty="0">
                <a:solidFill>
                  <a:srgbClr val="E59E19"/>
                </a:solidFill>
              </a:rPr>
              <a:t>Raw 10-K HTML</a:t>
            </a:r>
            <a:endParaRPr lang="en-US" sz="1600" dirty="0"/>
          </a:p>
        </p:txBody>
      </p:sp>
      <p:sp>
        <p:nvSpPr>
          <p:cNvPr id="10" name="Text 8"/>
          <p:cNvSpPr/>
          <p:nvPr/>
        </p:nvSpPr>
        <p:spPr>
          <a:xfrm>
            <a:off x="1078992" y="2240280"/>
            <a:ext cx="2286000" cy="2011680"/>
          </a:xfrm>
          <a:prstGeom prst="rect">
            <a:avLst/>
          </a:prstGeom>
          <a:noFill/>
          <a:ln/>
        </p:spPr>
        <p:txBody>
          <a:bodyPr wrap="square" lIns="381" tIns="381" rIns="381" bIns="381" rtlCol="0" anchor="ctr">
            <a:normAutofit/>
          </a:bodyPr>
          <a:lstStyle/>
          <a:p>
            <a:pPr marL="152400" indent="-152400">
              <a:buSzPct val="100000"/>
              <a:buChar char="•"/>
            </a:pPr>
            <a:r>
              <a:rPr lang="en-US" sz="1400" dirty="0">
                <a:solidFill>
                  <a:srgbClr val="111827"/>
                </a:solidFill>
              </a:rPr>
              <a:t>TOC bleed and repeated item headings</a:t>
            </a:r>
            <a:endParaRPr lang="en-US" sz="1400" dirty="0"/>
          </a:p>
          <a:p>
            <a:pPr marL="152400" indent="-152400">
              <a:buSzPct val="100000"/>
              <a:buChar char="•"/>
            </a:pPr>
            <a:r>
              <a:rPr lang="en-US" sz="1400" dirty="0">
                <a:solidFill>
                  <a:srgbClr val="111827"/>
                </a:solidFill>
              </a:rPr>
              <a:t>Dense Item 8 tables</a:t>
            </a:r>
            <a:endParaRPr lang="en-US" sz="1400" dirty="0"/>
          </a:p>
          <a:p>
            <a:pPr marL="152400" indent="-152400">
              <a:buSzPct val="100000"/>
              <a:buChar char="•"/>
            </a:pPr>
            <a:r>
              <a:rPr lang="en-US" sz="1400" dirty="0">
                <a:solidFill>
                  <a:srgbClr val="111827"/>
                </a:solidFill>
              </a:rPr>
              <a:t>Headers / footers and page numbers</a:t>
            </a:r>
            <a:endParaRPr lang="en-US" sz="1400" dirty="0"/>
          </a:p>
          <a:p>
            <a:pPr marL="152400" indent="-152400">
              <a:buSzPct val="100000"/>
              <a:buChar char="•"/>
            </a:pPr>
            <a:r>
              <a:rPr lang="en-US" sz="1400" dirty="0">
                <a:solidFill>
                  <a:srgbClr val="111827"/>
                </a:solidFill>
              </a:rPr>
              <a:t>Signature blocks and legal boilerplate</a:t>
            </a:r>
            <a:endParaRPr lang="en-US" sz="1400" dirty="0"/>
          </a:p>
        </p:txBody>
      </p:sp>
      <p:sp>
        <p:nvSpPr>
          <p:cNvPr id="11" name="Shape 9"/>
          <p:cNvSpPr/>
          <p:nvPr/>
        </p:nvSpPr>
        <p:spPr>
          <a:xfrm>
            <a:off x="4160520" y="2743200"/>
            <a:ext cx="685800" cy="713232"/>
          </a:xfrm>
          <a:prstGeom prst="chevron">
            <a:avLst/>
          </a:prstGeom>
          <a:solidFill>
            <a:srgbClr val="0F766E"/>
          </a:solidFill>
          <a:ln w="12700">
            <a:solidFill>
              <a:srgbClr val="333333">
                <a:alpha val="0"/>
              </a:srgbClr>
            </a:solidFill>
            <a:prstDash val="solid"/>
          </a:ln>
        </p:spPr>
        <p:txBody>
          <a:bodyPr/>
          <a:lstStyle/>
          <a:p>
            <a:endParaRPr lang="zh-CN" altLang="en-US"/>
          </a:p>
        </p:txBody>
      </p:sp>
      <p:sp>
        <p:nvSpPr>
          <p:cNvPr id="12" name="Shape 10"/>
          <p:cNvSpPr/>
          <p:nvPr/>
        </p:nvSpPr>
        <p:spPr>
          <a:xfrm>
            <a:off x="5166360" y="1463040"/>
            <a:ext cx="2926080" cy="3474720"/>
          </a:xfrm>
          <a:prstGeom prst="roundRect">
            <a:avLst>
              <a:gd name="adj" fmla="val 2188"/>
            </a:avLst>
          </a:prstGeom>
          <a:solidFill>
            <a:srgbClr val="F0FDF4"/>
          </a:solidFill>
          <a:ln w="10160">
            <a:solidFill>
              <a:srgbClr val="B7DEC3"/>
            </a:solidFill>
            <a:prstDash val="solid"/>
          </a:ln>
        </p:spPr>
        <p:txBody>
          <a:bodyPr/>
          <a:lstStyle/>
          <a:p>
            <a:endParaRPr lang="zh-CN" altLang="en-US"/>
          </a:p>
        </p:txBody>
      </p:sp>
      <p:sp>
        <p:nvSpPr>
          <p:cNvPr id="13" name="Text 11"/>
          <p:cNvSpPr/>
          <p:nvPr/>
        </p:nvSpPr>
        <p:spPr>
          <a:xfrm>
            <a:off x="5440680" y="1691640"/>
            <a:ext cx="2377440" cy="228600"/>
          </a:xfrm>
          <a:prstGeom prst="rect">
            <a:avLst/>
          </a:prstGeom>
          <a:noFill/>
          <a:ln/>
        </p:spPr>
        <p:txBody>
          <a:bodyPr wrap="square" lIns="0" tIns="0" rIns="0" bIns="0" rtlCol="0" anchor="ctr"/>
          <a:lstStyle/>
          <a:p>
            <a:pPr marL="0" indent="0" algn="ctr">
              <a:buNone/>
            </a:pPr>
            <a:r>
              <a:rPr lang="en-US" sz="1600" b="1" dirty="0">
                <a:solidFill>
                  <a:srgbClr val="2E7D32"/>
                </a:solidFill>
              </a:rPr>
              <a:t>Clean sections</a:t>
            </a:r>
            <a:endParaRPr lang="en-US" sz="1600" dirty="0"/>
          </a:p>
        </p:txBody>
      </p:sp>
      <p:sp>
        <p:nvSpPr>
          <p:cNvPr id="14" name="Text 12"/>
          <p:cNvSpPr/>
          <p:nvPr/>
        </p:nvSpPr>
        <p:spPr>
          <a:xfrm>
            <a:off x="5486400" y="2240280"/>
            <a:ext cx="2286000" cy="2011680"/>
          </a:xfrm>
          <a:prstGeom prst="rect">
            <a:avLst/>
          </a:prstGeom>
          <a:noFill/>
          <a:ln/>
        </p:spPr>
        <p:txBody>
          <a:bodyPr wrap="square" lIns="381" tIns="381" rIns="381" bIns="381" rtlCol="0" anchor="ctr">
            <a:normAutofit/>
          </a:bodyPr>
          <a:lstStyle/>
          <a:p>
            <a:pPr marL="152400" indent="-152400">
              <a:buSzPct val="100000"/>
              <a:buChar char="•"/>
            </a:pPr>
            <a:r>
              <a:rPr lang="en-US" sz="1400" dirty="0">
                <a:solidFill>
                  <a:srgbClr val="111827"/>
                </a:solidFill>
              </a:rPr>
              <a:t>Robust heading regex variants</a:t>
            </a:r>
            <a:endParaRPr lang="en-US" sz="1400" dirty="0"/>
          </a:p>
          <a:p>
            <a:pPr marL="152400" indent="-152400">
              <a:buSzPct val="100000"/>
              <a:buChar char="•"/>
            </a:pPr>
            <a:r>
              <a:rPr lang="en-US" sz="1400" dirty="0">
                <a:solidFill>
                  <a:srgbClr val="111827"/>
                </a:solidFill>
              </a:rPr>
              <a:t>Table placeholder: [TABLE]</a:t>
            </a:r>
            <a:endParaRPr lang="en-US" sz="1400" dirty="0"/>
          </a:p>
          <a:p>
            <a:pPr marL="152400" indent="-152400">
              <a:buSzPct val="100000"/>
              <a:buChar char="•"/>
            </a:pPr>
            <a:r>
              <a:rPr lang="en-US" sz="1400" dirty="0">
                <a:solidFill>
                  <a:srgbClr val="111827"/>
                </a:solidFill>
              </a:rPr>
              <a:t>NFKC normalization + html.unescape()</a:t>
            </a:r>
            <a:endParaRPr lang="en-US" sz="1400" dirty="0"/>
          </a:p>
          <a:p>
            <a:pPr marL="152400" indent="-152400">
              <a:buSzPct val="100000"/>
              <a:buChar char="•"/>
            </a:pPr>
            <a:r>
              <a:rPr lang="en-US" sz="1400" dirty="0">
                <a:solidFill>
                  <a:srgbClr val="111827"/>
                </a:solidFill>
              </a:rPr>
              <a:t>Skip short “not applicable” sections</a:t>
            </a:r>
            <a:endParaRPr lang="en-US" sz="1400" dirty="0"/>
          </a:p>
        </p:txBody>
      </p:sp>
      <p:sp>
        <p:nvSpPr>
          <p:cNvPr id="15" name="Shape 13"/>
          <p:cNvSpPr/>
          <p:nvPr/>
        </p:nvSpPr>
        <p:spPr>
          <a:xfrm>
            <a:off x="8275320" y="2743200"/>
            <a:ext cx="685800" cy="713232"/>
          </a:xfrm>
          <a:prstGeom prst="chevron">
            <a:avLst/>
          </a:prstGeom>
          <a:solidFill>
            <a:srgbClr val="1F4E79"/>
          </a:solidFill>
          <a:ln w="12700">
            <a:solidFill>
              <a:srgbClr val="333333">
                <a:alpha val="0"/>
              </a:srgbClr>
            </a:solidFill>
            <a:prstDash val="solid"/>
          </a:ln>
        </p:spPr>
        <p:txBody>
          <a:bodyPr/>
          <a:lstStyle/>
          <a:p>
            <a:endParaRPr lang="zh-CN" altLang="en-US"/>
          </a:p>
        </p:txBody>
      </p:sp>
      <p:sp>
        <p:nvSpPr>
          <p:cNvPr id="16" name="Shape 14"/>
          <p:cNvSpPr/>
          <p:nvPr/>
        </p:nvSpPr>
        <p:spPr>
          <a:xfrm>
            <a:off x="9189720" y="1463040"/>
            <a:ext cx="2240280" cy="3474720"/>
          </a:xfrm>
          <a:prstGeom prst="roundRect">
            <a:avLst>
              <a:gd name="adj" fmla="val 2857"/>
            </a:avLst>
          </a:prstGeom>
          <a:solidFill>
            <a:srgbClr val="FFFFFF"/>
          </a:solidFill>
          <a:ln w="10160">
            <a:solidFill>
              <a:srgbClr val="D4DEE9"/>
            </a:solidFill>
            <a:prstDash val="solid"/>
          </a:ln>
        </p:spPr>
        <p:txBody>
          <a:bodyPr/>
          <a:lstStyle/>
          <a:p>
            <a:endParaRPr lang="zh-CN" altLang="en-US"/>
          </a:p>
        </p:txBody>
      </p:sp>
      <p:sp>
        <p:nvSpPr>
          <p:cNvPr id="17" name="Text 15"/>
          <p:cNvSpPr/>
          <p:nvPr/>
        </p:nvSpPr>
        <p:spPr>
          <a:xfrm>
            <a:off x="9464040" y="1691640"/>
            <a:ext cx="1700784" cy="228600"/>
          </a:xfrm>
          <a:prstGeom prst="rect">
            <a:avLst/>
          </a:prstGeom>
          <a:noFill/>
          <a:ln/>
        </p:spPr>
        <p:txBody>
          <a:bodyPr wrap="square" lIns="0" tIns="0" rIns="0" bIns="0" rtlCol="0" anchor="ctr"/>
          <a:lstStyle/>
          <a:p>
            <a:pPr marL="0" indent="0" algn="ctr">
              <a:buNone/>
            </a:pPr>
            <a:r>
              <a:rPr lang="en-US" sz="1600" b="1" dirty="0">
                <a:solidFill>
                  <a:srgbClr val="1F4E79"/>
                </a:solidFill>
              </a:rPr>
              <a:t>Chunks</a:t>
            </a:r>
            <a:endParaRPr lang="en-US" sz="1600" dirty="0"/>
          </a:p>
        </p:txBody>
      </p:sp>
      <p:sp>
        <p:nvSpPr>
          <p:cNvPr id="18" name="Text 16"/>
          <p:cNvSpPr/>
          <p:nvPr/>
        </p:nvSpPr>
        <p:spPr>
          <a:xfrm>
            <a:off x="9464040" y="2240280"/>
            <a:ext cx="1700784" cy="2011680"/>
          </a:xfrm>
          <a:prstGeom prst="rect">
            <a:avLst/>
          </a:prstGeom>
          <a:noFill/>
          <a:ln/>
        </p:spPr>
        <p:txBody>
          <a:bodyPr wrap="square" lIns="254" tIns="254" rIns="254" bIns="254" rtlCol="0" anchor="ctr">
            <a:normAutofit/>
          </a:bodyPr>
          <a:lstStyle/>
          <a:p>
            <a:pPr marL="0" indent="0" algn="ctr">
              <a:buNone/>
            </a:pPr>
            <a:r>
              <a:rPr lang="en-US" sz="1400" dirty="0">
                <a:solidFill>
                  <a:srgbClr val="111827"/>
                </a:solidFill>
              </a:rPr>
              <a:t>≈500 token target</a:t>
            </a:r>
            <a:endParaRPr lang="en-US" sz="1400" dirty="0"/>
          </a:p>
          <a:p>
            <a:pPr marL="0" indent="0" algn="ctr">
              <a:buNone/>
            </a:pPr>
            <a:r>
              <a:rPr lang="en-US" sz="1400" dirty="0">
                <a:solidFill>
                  <a:srgbClr val="111827"/>
                </a:solidFill>
              </a:rPr>
              <a:t>50 token overlap</a:t>
            </a:r>
            <a:endParaRPr lang="en-US" sz="1400" dirty="0"/>
          </a:p>
          <a:p>
            <a:pPr marL="0" indent="0" algn="ctr">
              <a:buNone/>
            </a:pPr>
            <a:endParaRPr lang="en-US" sz="1400" dirty="0"/>
          </a:p>
          <a:p>
            <a:pPr marL="0" indent="0" algn="ctr">
              <a:buNone/>
            </a:pPr>
            <a:r>
              <a:rPr lang="en-US" sz="1400" dirty="0">
                <a:solidFill>
                  <a:srgbClr val="111827"/>
                </a:solidFill>
              </a:rPr>
              <a:t>metadata:</a:t>
            </a:r>
            <a:endParaRPr lang="en-US" sz="1400" dirty="0"/>
          </a:p>
          <a:p>
            <a:pPr marL="0" indent="0" algn="ctr">
              <a:buNone/>
            </a:pPr>
            <a:r>
              <a:rPr lang="en-US" sz="1400" dirty="0">
                <a:solidFill>
                  <a:srgbClr val="111827"/>
                </a:solidFill>
              </a:rPr>
              <a:t>CIK · ticker · year</a:t>
            </a:r>
            <a:endParaRPr lang="en-US" sz="1400" dirty="0"/>
          </a:p>
          <a:p>
            <a:pPr marL="0" indent="0" algn="ctr">
              <a:buNone/>
            </a:pPr>
            <a:r>
              <a:rPr lang="en-US" sz="1400" dirty="0">
                <a:solidFill>
                  <a:srgbClr val="111827"/>
                </a:solidFill>
              </a:rPr>
              <a:t>item · chunk_id</a:t>
            </a:r>
            <a:endParaRPr lang="en-US" sz="1400" dirty="0"/>
          </a:p>
          <a:p>
            <a:pPr marL="0" indent="0" algn="ctr">
              <a:buNone/>
            </a:pPr>
            <a:r>
              <a:rPr lang="en-US" sz="1400" dirty="0">
                <a:solidFill>
                  <a:srgbClr val="111827"/>
                </a:solidFill>
              </a:rPr>
              <a:t>token_count</a:t>
            </a:r>
            <a:endParaRPr lang="en-US" sz="1400" dirty="0"/>
          </a:p>
        </p:txBody>
      </p:sp>
      <p:sp>
        <p:nvSpPr>
          <p:cNvPr id="19" name="Shape 17"/>
          <p:cNvSpPr/>
          <p:nvPr/>
        </p:nvSpPr>
        <p:spPr>
          <a:xfrm>
            <a:off x="1325880" y="5532120"/>
            <a:ext cx="9601200" cy="502920"/>
          </a:xfrm>
          <a:prstGeom prst="roundRect">
            <a:avLst>
              <a:gd name="adj" fmla="val 9091"/>
            </a:avLst>
          </a:prstGeom>
          <a:solidFill>
            <a:srgbClr val="EEF5FB"/>
          </a:solidFill>
          <a:ln w="12700">
            <a:solidFill>
              <a:srgbClr val="333333">
                <a:alpha val="0"/>
              </a:srgbClr>
            </a:solidFill>
            <a:prstDash val="solid"/>
          </a:ln>
        </p:spPr>
        <p:txBody>
          <a:bodyPr/>
          <a:lstStyle/>
          <a:p>
            <a:endParaRPr lang="zh-CN" altLang="en-US"/>
          </a:p>
        </p:txBody>
      </p:sp>
      <p:sp>
        <p:nvSpPr>
          <p:cNvPr id="20" name="Text 18"/>
          <p:cNvSpPr/>
          <p:nvPr/>
        </p:nvSpPr>
        <p:spPr>
          <a:xfrm>
            <a:off x="1572768" y="5687568"/>
            <a:ext cx="9098280" cy="164592"/>
          </a:xfrm>
          <a:prstGeom prst="rect">
            <a:avLst/>
          </a:prstGeom>
          <a:noFill/>
          <a:ln/>
        </p:spPr>
        <p:txBody>
          <a:bodyPr wrap="square" lIns="0" tIns="0" rIns="0" bIns="0" rtlCol="0" anchor="ctr"/>
          <a:lstStyle/>
          <a:p>
            <a:pPr marL="0" indent="0" algn="ctr">
              <a:buNone/>
            </a:pPr>
            <a:r>
              <a:rPr lang="en-US" sz="1400" b="1" dirty="0">
                <a:solidFill>
                  <a:srgbClr val="12355B"/>
                </a:solidFill>
              </a:rPr>
              <a:t>Result: each chunk is traceable back to a firm, SEC Item, year, and exact chunk_id.</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384048" y="6510528"/>
            <a:ext cx="4937760" cy="182880"/>
          </a:xfrm>
          <a:prstGeom prst="rect">
            <a:avLst/>
          </a:prstGeom>
          <a:noFill/>
          <a:ln/>
        </p:spPr>
        <p:txBody>
          <a:bodyPr wrap="square" lIns="0" tIns="0" rIns="0" bIns="0" rtlCol="0" anchor="ctr"/>
          <a:lstStyle/>
          <a:p>
            <a:r>
              <a:rPr lang="en-US" altLang="zh-CN" sz="850" dirty="0">
                <a:solidFill>
                  <a:srgbClr val="6B7280"/>
                </a:solidFill>
              </a:rPr>
              <a:t>AD 698 · Applied Generative AI for Business Analytics</a:t>
            </a:r>
          </a:p>
        </p:txBody>
      </p:sp>
      <p:sp>
        <p:nvSpPr>
          <p:cNvPr id="3" name="Text 1"/>
          <p:cNvSpPr/>
          <p:nvPr/>
        </p:nvSpPr>
        <p:spPr>
          <a:xfrm>
            <a:off x="11548872" y="6473952"/>
            <a:ext cx="320040" cy="201168"/>
          </a:xfrm>
          <a:prstGeom prst="rect">
            <a:avLst/>
          </a:prstGeom>
          <a:noFill/>
          <a:ln/>
        </p:spPr>
        <p:txBody>
          <a:bodyPr wrap="square" lIns="0" tIns="0" rIns="0" bIns="0" rtlCol="0" anchor="ctr"/>
          <a:lstStyle/>
          <a:p>
            <a:pPr marL="0" indent="0" algn="r">
              <a:buNone/>
            </a:pPr>
            <a:r>
              <a:rPr lang="en-US" sz="900" dirty="0">
                <a:solidFill>
                  <a:srgbClr val="6B7280"/>
                </a:solidFill>
              </a:rPr>
              <a:t>06</a:t>
            </a:r>
            <a:endParaRPr lang="en-US" sz="900" dirty="0"/>
          </a:p>
        </p:txBody>
      </p:sp>
      <p:sp>
        <p:nvSpPr>
          <p:cNvPr id="4" name="Text 2"/>
          <p:cNvSpPr/>
          <p:nvPr/>
        </p:nvSpPr>
        <p:spPr>
          <a:xfrm>
            <a:off x="502920" y="347472"/>
            <a:ext cx="8961120" cy="411480"/>
          </a:xfrm>
          <a:prstGeom prst="rect">
            <a:avLst/>
          </a:prstGeom>
          <a:noFill/>
          <a:ln/>
        </p:spPr>
        <p:txBody>
          <a:bodyPr wrap="square" lIns="0" tIns="0" rIns="0" bIns="0" rtlCol="0" anchor="ctr"/>
          <a:lstStyle/>
          <a:p>
            <a:pPr marL="0" indent="0">
              <a:buNone/>
            </a:pPr>
            <a:r>
              <a:rPr lang="en-US" sz="2700" b="1" dirty="0">
                <a:solidFill>
                  <a:srgbClr val="12355B"/>
                </a:solidFill>
                <a:latin typeface="Aptos Display" pitchFamily="34" charset="0"/>
                <a:ea typeface="Aptos Display" pitchFamily="34" charset="-122"/>
                <a:cs typeface="Aptos Display" pitchFamily="34" charset="-120"/>
              </a:rPr>
              <a:t>Retrieval design: cosine similarity + hard filters</a:t>
            </a:r>
            <a:endParaRPr lang="en-US" sz="2700" dirty="0"/>
          </a:p>
        </p:txBody>
      </p:sp>
      <p:sp>
        <p:nvSpPr>
          <p:cNvPr id="5" name="Text 3"/>
          <p:cNvSpPr/>
          <p:nvPr/>
        </p:nvSpPr>
        <p:spPr>
          <a:xfrm>
            <a:off x="521208" y="786384"/>
            <a:ext cx="9326880" cy="274320"/>
          </a:xfrm>
          <a:prstGeom prst="rect">
            <a:avLst/>
          </a:prstGeom>
          <a:noFill/>
          <a:ln/>
        </p:spPr>
        <p:txBody>
          <a:bodyPr wrap="square" lIns="0" tIns="0" rIns="0" bIns="0" rtlCol="0" anchor="ctr"/>
          <a:lstStyle/>
          <a:p>
            <a:pPr marL="0" indent="0">
              <a:buNone/>
            </a:pPr>
            <a:r>
              <a:rPr lang="en-US" sz="1150" dirty="0">
                <a:solidFill>
                  <a:srgbClr val="6B7280"/>
                </a:solidFill>
              </a:rPr>
              <a:t>The code uses an in-memory NumPy embedding matrix, not FAISS.</a:t>
            </a:r>
            <a:endParaRPr lang="en-US" sz="1150" dirty="0"/>
          </a:p>
        </p:txBody>
      </p:sp>
      <p:sp>
        <p:nvSpPr>
          <p:cNvPr id="8" name="Shape 6"/>
          <p:cNvSpPr/>
          <p:nvPr/>
        </p:nvSpPr>
        <p:spPr>
          <a:xfrm>
            <a:off x="731520" y="1325880"/>
            <a:ext cx="4892040" cy="4251960"/>
          </a:xfrm>
          <a:prstGeom prst="roundRect">
            <a:avLst>
              <a:gd name="adj" fmla="val 1505"/>
            </a:avLst>
          </a:prstGeom>
          <a:solidFill>
            <a:srgbClr val="FFFFFF"/>
          </a:solidFill>
          <a:ln w="8890">
            <a:solidFill>
              <a:srgbClr val="D4DEE9"/>
            </a:solidFill>
            <a:prstDash val="solid"/>
          </a:ln>
        </p:spPr>
        <p:txBody>
          <a:bodyPr/>
          <a:lstStyle/>
          <a:p>
            <a:endParaRPr lang="zh-CN" altLang="en-US"/>
          </a:p>
        </p:txBody>
      </p:sp>
      <p:sp>
        <p:nvSpPr>
          <p:cNvPr id="9" name="Text 7"/>
          <p:cNvSpPr/>
          <p:nvPr/>
        </p:nvSpPr>
        <p:spPr>
          <a:xfrm>
            <a:off x="1051560" y="1627632"/>
            <a:ext cx="4251960" cy="274320"/>
          </a:xfrm>
          <a:prstGeom prst="rect">
            <a:avLst/>
          </a:prstGeom>
          <a:noFill/>
          <a:ln/>
        </p:spPr>
        <p:txBody>
          <a:bodyPr wrap="square" lIns="0" tIns="0" rIns="0" bIns="0" rtlCol="0" anchor="ctr"/>
          <a:lstStyle/>
          <a:p>
            <a:pPr marL="0" indent="0" algn="ctr">
              <a:buNone/>
            </a:pPr>
            <a:r>
              <a:rPr lang="en-US" sz="1800" b="1" dirty="0">
                <a:solidFill>
                  <a:srgbClr val="12355B"/>
                </a:solidFill>
              </a:rPr>
              <a:t>Retrieval mechanics</a:t>
            </a:r>
            <a:endParaRPr lang="en-US" sz="1800" dirty="0"/>
          </a:p>
        </p:txBody>
      </p:sp>
      <p:sp>
        <p:nvSpPr>
          <p:cNvPr id="10" name="Shape 8"/>
          <p:cNvSpPr/>
          <p:nvPr/>
        </p:nvSpPr>
        <p:spPr>
          <a:xfrm>
            <a:off x="1143000" y="2148840"/>
            <a:ext cx="292608" cy="292608"/>
          </a:xfrm>
          <a:prstGeom prst="ellipse">
            <a:avLst/>
          </a:prstGeom>
          <a:solidFill>
            <a:srgbClr val="0F766E"/>
          </a:solidFill>
          <a:ln w="12700">
            <a:solidFill>
              <a:srgbClr val="333333">
                <a:alpha val="0"/>
              </a:srgbClr>
            </a:solidFill>
            <a:prstDash val="solid"/>
          </a:ln>
        </p:spPr>
        <p:txBody>
          <a:bodyPr/>
          <a:lstStyle/>
          <a:p>
            <a:endParaRPr lang="zh-CN" altLang="en-US"/>
          </a:p>
        </p:txBody>
      </p:sp>
      <p:sp>
        <p:nvSpPr>
          <p:cNvPr id="11" name="Text 9"/>
          <p:cNvSpPr/>
          <p:nvPr/>
        </p:nvSpPr>
        <p:spPr>
          <a:xfrm>
            <a:off x="1143000" y="2217420"/>
            <a:ext cx="292608" cy="109728"/>
          </a:xfrm>
          <a:prstGeom prst="rect">
            <a:avLst/>
          </a:prstGeom>
          <a:noFill/>
          <a:ln/>
        </p:spPr>
        <p:txBody>
          <a:bodyPr wrap="square" lIns="0" tIns="0" rIns="0" bIns="0" rtlCol="0" anchor="ctr"/>
          <a:lstStyle/>
          <a:p>
            <a:pPr marL="0" indent="0" algn="ctr">
              <a:buNone/>
            </a:pPr>
            <a:r>
              <a:rPr lang="en-US" sz="800" b="1" dirty="0">
                <a:solidFill>
                  <a:srgbClr val="FFFFFF"/>
                </a:solidFill>
              </a:rPr>
              <a:t>1</a:t>
            </a:r>
            <a:endParaRPr lang="en-US" sz="800" dirty="0"/>
          </a:p>
        </p:txBody>
      </p:sp>
      <p:sp>
        <p:nvSpPr>
          <p:cNvPr id="12" name="Text 10"/>
          <p:cNvSpPr/>
          <p:nvPr/>
        </p:nvSpPr>
        <p:spPr>
          <a:xfrm>
            <a:off x="1627632" y="2185416"/>
            <a:ext cx="3474720" cy="164592"/>
          </a:xfrm>
          <a:prstGeom prst="rect">
            <a:avLst/>
          </a:prstGeom>
          <a:noFill/>
          <a:ln/>
        </p:spPr>
        <p:txBody>
          <a:bodyPr wrap="square" lIns="0" tIns="0" rIns="0" bIns="0" rtlCol="0" anchor="ctr"/>
          <a:lstStyle/>
          <a:p>
            <a:pPr marL="0" indent="0">
              <a:buNone/>
            </a:pPr>
            <a:r>
              <a:rPr lang="en-US" sz="1300" dirty="0">
                <a:solidFill>
                  <a:srgbClr val="111827"/>
                </a:solidFill>
              </a:rPr>
              <a:t>Embed question</a:t>
            </a:r>
            <a:endParaRPr lang="en-US" sz="1300" dirty="0"/>
          </a:p>
        </p:txBody>
      </p:sp>
      <p:sp>
        <p:nvSpPr>
          <p:cNvPr id="13" name="Shape 11"/>
          <p:cNvSpPr/>
          <p:nvPr/>
        </p:nvSpPr>
        <p:spPr>
          <a:xfrm>
            <a:off x="1143000" y="2679192"/>
            <a:ext cx="292608" cy="292608"/>
          </a:xfrm>
          <a:prstGeom prst="ellipse">
            <a:avLst/>
          </a:prstGeom>
          <a:solidFill>
            <a:srgbClr val="0F766E"/>
          </a:solidFill>
          <a:ln w="12700">
            <a:solidFill>
              <a:srgbClr val="333333">
                <a:alpha val="0"/>
              </a:srgbClr>
            </a:solidFill>
            <a:prstDash val="solid"/>
          </a:ln>
        </p:spPr>
        <p:txBody>
          <a:bodyPr/>
          <a:lstStyle/>
          <a:p>
            <a:endParaRPr lang="zh-CN" altLang="en-US"/>
          </a:p>
        </p:txBody>
      </p:sp>
      <p:sp>
        <p:nvSpPr>
          <p:cNvPr id="14" name="Text 12"/>
          <p:cNvSpPr/>
          <p:nvPr/>
        </p:nvSpPr>
        <p:spPr>
          <a:xfrm>
            <a:off x="1143000" y="2747772"/>
            <a:ext cx="292608" cy="109728"/>
          </a:xfrm>
          <a:prstGeom prst="rect">
            <a:avLst/>
          </a:prstGeom>
          <a:noFill/>
          <a:ln/>
        </p:spPr>
        <p:txBody>
          <a:bodyPr wrap="square" lIns="0" tIns="0" rIns="0" bIns="0" rtlCol="0" anchor="ctr"/>
          <a:lstStyle/>
          <a:p>
            <a:pPr marL="0" indent="0" algn="ctr">
              <a:buNone/>
            </a:pPr>
            <a:r>
              <a:rPr lang="en-US" sz="800" b="1" dirty="0">
                <a:solidFill>
                  <a:srgbClr val="FFFFFF"/>
                </a:solidFill>
              </a:rPr>
              <a:t>2</a:t>
            </a:r>
            <a:endParaRPr lang="en-US" sz="800" dirty="0"/>
          </a:p>
        </p:txBody>
      </p:sp>
      <p:sp>
        <p:nvSpPr>
          <p:cNvPr id="15" name="Text 13"/>
          <p:cNvSpPr/>
          <p:nvPr/>
        </p:nvSpPr>
        <p:spPr>
          <a:xfrm>
            <a:off x="1627632" y="2715768"/>
            <a:ext cx="3474720" cy="164592"/>
          </a:xfrm>
          <a:prstGeom prst="rect">
            <a:avLst/>
          </a:prstGeom>
          <a:noFill/>
          <a:ln/>
        </p:spPr>
        <p:txBody>
          <a:bodyPr wrap="square" lIns="0" tIns="0" rIns="0" bIns="0" rtlCol="0" anchor="ctr"/>
          <a:lstStyle/>
          <a:p>
            <a:pPr marL="0" indent="0">
              <a:buNone/>
            </a:pPr>
            <a:r>
              <a:rPr lang="en-US" sz="1300" dirty="0">
                <a:solidFill>
                  <a:srgbClr val="111827"/>
                </a:solidFill>
              </a:rPr>
              <a:t>Cosine search</a:t>
            </a:r>
            <a:endParaRPr lang="en-US" sz="1300" dirty="0"/>
          </a:p>
        </p:txBody>
      </p:sp>
      <p:sp>
        <p:nvSpPr>
          <p:cNvPr id="16" name="Shape 14"/>
          <p:cNvSpPr/>
          <p:nvPr/>
        </p:nvSpPr>
        <p:spPr>
          <a:xfrm>
            <a:off x="1143000" y="3209544"/>
            <a:ext cx="292608" cy="292608"/>
          </a:xfrm>
          <a:prstGeom prst="ellipse">
            <a:avLst/>
          </a:prstGeom>
          <a:solidFill>
            <a:srgbClr val="0F766E"/>
          </a:solidFill>
          <a:ln w="12700">
            <a:solidFill>
              <a:srgbClr val="333333">
                <a:alpha val="0"/>
              </a:srgbClr>
            </a:solidFill>
            <a:prstDash val="solid"/>
          </a:ln>
        </p:spPr>
        <p:txBody>
          <a:bodyPr/>
          <a:lstStyle/>
          <a:p>
            <a:endParaRPr lang="zh-CN" altLang="en-US"/>
          </a:p>
        </p:txBody>
      </p:sp>
      <p:sp>
        <p:nvSpPr>
          <p:cNvPr id="17" name="Text 15"/>
          <p:cNvSpPr/>
          <p:nvPr/>
        </p:nvSpPr>
        <p:spPr>
          <a:xfrm>
            <a:off x="1143000" y="3278124"/>
            <a:ext cx="292608" cy="109728"/>
          </a:xfrm>
          <a:prstGeom prst="rect">
            <a:avLst/>
          </a:prstGeom>
          <a:noFill/>
          <a:ln/>
        </p:spPr>
        <p:txBody>
          <a:bodyPr wrap="square" lIns="0" tIns="0" rIns="0" bIns="0" rtlCol="0" anchor="ctr"/>
          <a:lstStyle/>
          <a:p>
            <a:pPr marL="0" indent="0" algn="ctr">
              <a:buNone/>
            </a:pPr>
            <a:r>
              <a:rPr lang="en-US" sz="800" b="1" dirty="0">
                <a:solidFill>
                  <a:srgbClr val="FFFFFF"/>
                </a:solidFill>
              </a:rPr>
              <a:t>3</a:t>
            </a:r>
            <a:endParaRPr lang="en-US" sz="800" dirty="0"/>
          </a:p>
        </p:txBody>
      </p:sp>
      <p:sp>
        <p:nvSpPr>
          <p:cNvPr id="18" name="Text 16"/>
          <p:cNvSpPr/>
          <p:nvPr/>
        </p:nvSpPr>
        <p:spPr>
          <a:xfrm>
            <a:off x="1627632" y="3246120"/>
            <a:ext cx="3474720" cy="164592"/>
          </a:xfrm>
          <a:prstGeom prst="rect">
            <a:avLst/>
          </a:prstGeom>
          <a:noFill/>
          <a:ln/>
        </p:spPr>
        <p:txBody>
          <a:bodyPr wrap="square" lIns="0" tIns="0" rIns="0" bIns="0" rtlCol="0" anchor="ctr"/>
          <a:lstStyle/>
          <a:p>
            <a:pPr marL="0" indent="0">
              <a:buNone/>
            </a:pPr>
            <a:r>
              <a:rPr lang="en-US" sz="1300" dirty="0">
                <a:solidFill>
                  <a:srgbClr val="111827"/>
                </a:solidFill>
              </a:rPr>
              <a:t>Filter by Item</a:t>
            </a:r>
            <a:endParaRPr lang="en-US" sz="1300" dirty="0"/>
          </a:p>
        </p:txBody>
      </p:sp>
      <p:sp>
        <p:nvSpPr>
          <p:cNvPr id="19" name="Shape 17"/>
          <p:cNvSpPr/>
          <p:nvPr/>
        </p:nvSpPr>
        <p:spPr>
          <a:xfrm>
            <a:off x="1143000" y="3739896"/>
            <a:ext cx="292608" cy="292608"/>
          </a:xfrm>
          <a:prstGeom prst="ellipse">
            <a:avLst/>
          </a:prstGeom>
          <a:solidFill>
            <a:srgbClr val="0F766E"/>
          </a:solidFill>
          <a:ln w="12700">
            <a:solidFill>
              <a:srgbClr val="333333">
                <a:alpha val="0"/>
              </a:srgbClr>
            </a:solidFill>
            <a:prstDash val="solid"/>
          </a:ln>
        </p:spPr>
        <p:txBody>
          <a:bodyPr/>
          <a:lstStyle/>
          <a:p>
            <a:endParaRPr lang="zh-CN" altLang="en-US"/>
          </a:p>
        </p:txBody>
      </p:sp>
      <p:sp>
        <p:nvSpPr>
          <p:cNvPr id="20" name="Text 18"/>
          <p:cNvSpPr/>
          <p:nvPr/>
        </p:nvSpPr>
        <p:spPr>
          <a:xfrm>
            <a:off x="1143000" y="3808476"/>
            <a:ext cx="292608" cy="109728"/>
          </a:xfrm>
          <a:prstGeom prst="rect">
            <a:avLst/>
          </a:prstGeom>
          <a:noFill/>
          <a:ln/>
        </p:spPr>
        <p:txBody>
          <a:bodyPr wrap="square" lIns="0" tIns="0" rIns="0" bIns="0" rtlCol="0" anchor="ctr"/>
          <a:lstStyle/>
          <a:p>
            <a:pPr marL="0" indent="0" algn="ctr">
              <a:buNone/>
            </a:pPr>
            <a:r>
              <a:rPr lang="en-US" sz="800" b="1" dirty="0">
                <a:solidFill>
                  <a:srgbClr val="FFFFFF"/>
                </a:solidFill>
              </a:rPr>
              <a:t>4</a:t>
            </a:r>
            <a:endParaRPr lang="en-US" sz="800" dirty="0"/>
          </a:p>
        </p:txBody>
      </p:sp>
      <p:sp>
        <p:nvSpPr>
          <p:cNvPr id="21" name="Text 19"/>
          <p:cNvSpPr/>
          <p:nvPr/>
        </p:nvSpPr>
        <p:spPr>
          <a:xfrm>
            <a:off x="1627632" y="3776472"/>
            <a:ext cx="3474720" cy="164592"/>
          </a:xfrm>
          <a:prstGeom prst="rect">
            <a:avLst/>
          </a:prstGeom>
          <a:noFill/>
          <a:ln/>
        </p:spPr>
        <p:txBody>
          <a:bodyPr wrap="square" lIns="0" tIns="0" rIns="0" bIns="0" rtlCol="0" anchor="ctr"/>
          <a:lstStyle/>
          <a:p>
            <a:pPr marL="0" indent="0">
              <a:buNone/>
            </a:pPr>
            <a:r>
              <a:rPr lang="en-US" sz="1300" dirty="0">
                <a:solidFill>
                  <a:srgbClr val="111827"/>
                </a:solidFill>
              </a:rPr>
              <a:t>Optional firm filter</a:t>
            </a:r>
            <a:endParaRPr lang="en-US" sz="1300" dirty="0"/>
          </a:p>
        </p:txBody>
      </p:sp>
      <p:sp>
        <p:nvSpPr>
          <p:cNvPr id="22" name="Shape 20"/>
          <p:cNvSpPr/>
          <p:nvPr/>
        </p:nvSpPr>
        <p:spPr>
          <a:xfrm>
            <a:off x="1143000" y="4270248"/>
            <a:ext cx="292608" cy="292608"/>
          </a:xfrm>
          <a:prstGeom prst="ellipse">
            <a:avLst/>
          </a:prstGeom>
          <a:solidFill>
            <a:srgbClr val="0F766E"/>
          </a:solidFill>
          <a:ln w="12700">
            <a:solidFill>
              <a:srgbClr val="333333">
                <a:alpha val="0"/>
              </a:srgbClr>
            </a:solidFill>
            <a:prstDash val="solid"/>
          </a:ln>
        </p:spPr>
        <p:txBody>
          <a:bodyPr/>
          <a:lstStyle/>
          <a:p>
            <a:endParaRPr lang="zh-CN" altLang="en-US"/>
          </a:p>
        </p:txBody>
      </p:sp>
      <p:sp>
        <p:nvSpPr>
          <p:cNvPr id="23" name="Text 21"/>
          <p:cNvSpPr/>
          <p:nvPr/>
        </p:nvSpPr>
        <p:spPr>
          <a:xfrm>
            <a:off x="1143000" y="4338828"/>
            <a:ext cx="292608" cy="109728"/>
          </a:xfrm>
          <a:prstGeom prst="rect">
            <a:avLst/>
          </a:prstGeom>
          <a:noFill/>
          <a:ln/>
        </p:spPr>
        <p:txBody>
          <a:bodyPr wrap="square" lIns="0" tIns="0" rIns="0" bIns="0" rtlCol="0" anchor="ctr"/>
          <a:lstStyle/>
          <a:p>
            <a:pPr marL="0" indent="0" algn="ctr">
              <a:buNone/>
            </a:pPr>
            <a:r>
              <a:rPr lang="en-US" sz="800" b="1" dirty="0">
                <a:solidFill>
                  <a:srgbClr val="FFFFFF"/>
                </a:solidFill>
              </a:rPr>
              <a:t>5</a:t>
            </a:r>
            <a:endParaRPr lang="en-US" sz="800" dirty="0"/>
          </a:p>
        </p:txBody>
      </p:sp>
      <p:sp>
        <p:nvSpPr>
          <p:cNvPr id="24" name="Text 22"/>
          <p:cNvSpPr/>
          <p:nvPr/>
        </p:nvSpPr>
        <p:spPr>
          <a:xfrm>
            <a:off x="1627632" y="4306824"/>
            <a:ext cx="3474720" cy="164592"/>
          </a:xfrm>
          <a:prstGeom prst="rect">
            <a:avLst/>
          </a:prstGeom>
          <a:noFill/>
          <a:ln/>
        </p:spPr>
        <p:txBody>
          <a:bodyPr wrap="square" lIns="0" tIns="0" rIns="0" bIns="0" rtlCol="0" anchor="ctr"/>
          <a:lstStyle/>
          <a:p>
            <a:pPr marL="0" indent="0">
              <a:buNone/>
            </a:pPr>
            <a:r>
              <a:rPr lang="en-US" sz="1300" dirty="0">
                <a:solidFill>
                  <a:srgbClr val="111827"/>
                </a:solidFill>
              </a:rPr>
              <a:t>Return top-k chunks</a:t>
            </a:r>
            <a:endParaRPr lang="en-US" sz="1300" dirty="0"/>
          </a:p>
        </p:txBody>
      </p:sp>
      <p:sp>
        <p:nvSpPr>
          <p:cNvPr id="25" name="Text 23"/>
          <p:cNvSpPr/>
          <p:nvPr/>
        </p:nvSpPr>
        <p:spPr>
          <a:xfrm>
            <a:off x="1143000" y="4709160"/>
            <a:ext cx="4114800" cy="438912"/>
          </a:xfrm>
          <a:prstGeom prst="rect">
            <a:avLst/>
          </a:prstGeom>
          <a:noFill/>
          <a:ln/>
        </p:spPr>
        <p:txBody>
          <a:bodyPr wrap="square" lIns="381" tIns="381" rIns="381" bIns="381" rtlCol="0" anchor="ctr">
            <a:normAutofit/>
          </a:bodyPr>
          <a:lstStyle/>
          <a:p>
            <a:pPr marL="0" indent="0" algn="ctr">
              <a:buNone/>
            </a:pPr>
            <a:r>
              <a:rPr lang="en-US" sz="1020" dirty="0">
                <a:solidFill>
                  <a:srgbClr val="1F4E79"/>
                </a:solidFill>
                <a:latin typeface="Aptos Mono" pitchFamily="34" charset="0"/>
                <a:ea typeface="Aptos Mono" pitchFamily="34" charset="-122"/>
                <a:cs typeface="Aptos Mono" pitchFamily="34" charset="-120"/>
              </a:rPr>
              <a:t>INDEX_MATRIX = embeddings</a:t>
            </a:r>
            <a:endParaRPr lang="en-US" sz="1020" dirty="0"/>
          </a:p>
          <a:p>
            <a:pPr marL="0" indent="0" algn="ctr">
              <a:buNone/>
            </a:pPr>
            <a:r>
              <a:rPr lang="en-US" sz="1020" dirty="0">
                <a:solidFill>
                  <a:srgbClr val="1F4E79"/>
                </a:solidFill>
                <a:latin typeface="Aptos Mono" pitchFamily="34" charset="0"/>
                <a:ea typeface="Aptos Mono" pitchFamily="34" charset="-122"/>
                <a:cs typeface="Aptos Mono" pitchFamily="34" charset="-120"/>
              </a:rPr>
              <a:t>q_vec → cosine_similarity(q_vec, INDEX_MATRIX)</a:t>
            </a:r>
            <a:endParaRPr lang="en-US" sz="1020" dirty="0"/>
          </a:p>
        </p:txBody>
      </p:sp>
      <p:sp>
        <p:nvSpPr>
          <p:cNvPr id="26" name="Shape 24"/>
          <p:cNvSpPr/>
          <p:nvPr/>
        </p:nvSpPr>
        <p:spPr>
          <a:xfrm>
            <a:off x="6355080" y="1325880"/>
            <a:ext cx="4983480" cy="4251960"/>
          </a:xfrm>
          <a:prstGeom prst="roundRect">
            <a:avLst>
              <a:gd name="adj" fmla="val 1505"/>
            </a:avLst>
          </a:prstGeom>
          <a:solidFill>
            <a:srgbClr val="F9FAFB"/>
          </a:solidFill>
          <a:ln w="8890">
            <a:solidFill>
              <a:srgbClr val="D4DEE9"/>
            </a:solidFill>
            <a:prstDash val="solid"/>
          </a:ln>
        </p:spPr>
        <p:txBody>
          <a:bodyPr/>
          <a:lstStyle/>
          <a:p>
            <a:endParaRPr lang="zh-CN" altLang="en-US"/>
          </a:p>
        </p:txBody>
      </p:sp>
      <p:sp>
        <p:nvSpPr>
          <p:cNvPr id="27" name="Text 25"/>
          <p:cNvSpPr/>
          <p:nvPr/>
        </p:nvSpPr>
        <p:spPr>
          <a:xfrm>
            <a:off x="6629400" y="1627632"/>
            <a:ext cx="4434840" cy="274320"/>
          </a:xfrm>
          <a:prstGeom prst="rect">
            <a:avLst/>
          </a:prstGeom>
          <a:noFill/>
          <a:ln/>
        </p:spPr>
        <p:txBody>
          <a:bodyPr wrap="square" lIns="0" tIns="0" rIns="0" bIns="0" rtlCol="0" anchor="ctr"/>
          <a:lstStyle/>
          <a:p>
            <a:pPr marL="0" indent="0" algn="ctr">
              <a:buNone/>
            </a:pPr>
            <a:r>
              <a:rPr lang="en-US" sz="1800" b="1" dirty="0">
                <a:solidFill>
                  <a:srgbClr val="12355B"/>
                </a:solidFill>
              </a:rPr>
              <a:t>Hard constraints</a:t>
            </a:r>
            <a:endParaRPr lang="en-US" sz="1800" dirty="0"/>
          </a:p>
        </p:txBody>
      </p:sp>
      <p:sp>
        <p:nvSpPr>
          <p:cNvPr id="28" name="Shape 26"/>
          <p:cNvSpPr/>
          <p:nvPr/>
        </p:nvSpPr>
        <p:spPr>
          <a:xfrm>
            <a:off x="6720840" y="2148840"/>
            <a:ext cx="1600200" cy="1234440"/>
          </a:xfrm>
          <a:prstGeom prst="roundRect">
            <a:avLst>
              <a:gd name="adj" fmla="val 4444"/>
            </a:avLst>
          </a:prstGeom>
          <a:solidFill>
            <a:srgbClr val="FFFFFF"/>
          </a:solidFill>
          <a:ln w="8890">
            <a:solidFill>
              <a:srgbClr val="D4DEE9"/>
            </a:solidFill>
            <a:prstDash val="solid"/>
          </a:ln>
        </p:spPr>
        <p:txBody>
          <a:bodyPr/>
          <a:lstStyle/>
          <a:p>
            <a:endParaRPr lang="zh-CN" altLang="en-US"/>
          </a:p>
        </p:txBody>
      </p:sp>
      <p:sp>
        <p:nvSpPr>
          <p:cNvPr id="29" name="Text 27"/>
          <p:cNvSpPr/>
          <p:nvPr/>
        </p:nvSpPr>
        <p:spPr>
          <a:xfrm>
            <a:off x="6885432" y="2295144"/>
            <a:ext cx="1271016" cy="201168"/>
          </a:xfrm>
          <a:prstGeom prst="rect">
            <a:avLst/>
          </a:prstGeom>
          <a:noFill/>
          <a:ln/>
        </p:spPr>
        <p:txBody>
          <a:bodyPr wrap="square" lIns="0" tIns="0" rIns="0" bIns="0" rtlCol="0" anchor="ctr"/>
          <a:lstStyle/>
          <a:p>
            <a:pPr marL="0" indent="0">
              <a:buNone/>
            </a:pPr>
            <a:r>
              <a:rPr lang="en-US" sz="1350" b="1" dirty="0">
                <a:solidFill>
                  <a:srgbClr val="2E7D32"/>
                </a:solidFill>
              </a:rPr>
              <a:t>Item allow-list</a:t>
            </a:r>
            <a:endParaRPr lang="en-US" sz="1350" dirty="0"/>
          </a:p>
        </p:txBody>
      </p:sp>
      <p:sp>
        <p:nvSpPr>
          <p:cNvPr id="30" name="Text 28"/>
          <p:cNvSpPr/>
          <p:nvPr/>
        </p:nvSpPr>
        <p:spPr>
          <a:xfrm>
            <a:off x="6885432" y="2624328"/>
            <a:ext cx="1271016" cy="640080"/>
          </a:xfrm>
          <a:prstGeom prst="rect">
            <a:avLst/>
          </a:prstGeom>
          <a:noFill/>
          <a:ln/>
        </p:spPr>
        <p:txBody>
          <a:bodyPr wrap="square" lIns="0" tIns="0" rIns="0" bIns="0" rtlCol="0" anchor="ctr">
            <a:normAutofit/>
          </a:bodyPr>
          <a:lstStyle/>
          <a:p>
            <a:pPr marL="0" indent="0">
              <a:buNone/>
            </a:pPr>
            <a:r>
              <a:rPr lang="en-US" sz="1080" dirty="0">
                <a:solidFill>
                  <a:srgbClr val="111827"/>
                </a:solidFill>
              </a:rPr>
              <a:t>Item ∈ {6, 7, 7A, 8}</a:t>
            </a:r>
            <a:endParaRPr lang="en-US" sz="1080" dirty="0"/>
          </a:p>
        </p:txBody>
      </p:sp>
      <p:sp>
        <p:nvSpPr>
          <p:cNvPr id="31" name="Shape 29"/>
          <p:cNvSpPr/>
          <p:nvPr/>
        </p:nvSpPr>
        <p:spPr>
          <a:xfrm>
            <a:off x="8641080" y="2148840"/>
            <a:ext cx="1600200" cy="1234440"/>
          </a:xfrm>
          <a:prstGeom prst="roundRect">
            <a:avLst>
              <a:gd name="adj" fmla="val 4444"/>
            </a:avLst>
          </a:prstGeom>
          <a:solidFill>
            <a:srgbClr val="FFFFFF"/>
          </a:solidFill>
          <a:ln w="8890">
            <a:solidFill>
              <a:srgbClr val="D4DEE9"/>
            </a:solidFill>
            <a:prstDash val="solid"/>
          </a:ln>
        </p:spPr>
        <p:txBody>
          <a:bodyPr/>
          <a:lstStyle/>
          <a:p>
            <a:endParaRPr lang="zh-CN" altLang="en-US"/>
          </a:p>
        </p:txBody>
      </p:sp>
      <p:sp>
        <p:nvSpPr>
          <p:cNvPr id="32" name="Text 30"/>
          <p:cNvSpPr/>
          <p:nvPr/>
        </p:nvSpPr>
        <p:spPr>
          <a:xfrm>
            <a:off x="8805672" y="2295144"/>
            <a:ext cx="1271016" cy="201168"/>
          </a:xfrm>
          <a:prstGeom prst="rect">
            <a:avLst/>
          </a:prstGeom>
          <a:noFill/>
          <a:ln/>
        </p:spPr>
        <p:txBody>
          <a:bodyPr wrap="square" lIns="0" tIns="0" rIns="0" bIns="0" rtlCol="0" anchor="ctr"/>
          <a:lstStyle/>
          <a:p>
            <a:pPr marL="0" indent="0">
              <a:buNone/>
            </a:pPr>
            <a:r>
              <a:rPr lang="en-US" sz="1350" b="1" dirty="0">
                <a:solidFill>
                  <a:srgbClr val="0F766E"/>
                </a:solidFill>
              </a:rPr>
              <a:t>Firm scope</a:t>
            </a:r>
            <a:endParaRPr lang="en-US" sz="1350" dirty="0"/>
          </a:p>
        </p:txBody>
      </p:sp>
      <p:sp>
        <p:nvSpPr>
          <p:cNvPr id="33" name="Text 31"/>
          <p:cNvSpPr/>
          <p:nvPr/>
        </p:nvSpPr>
        <p:spPr>
          <a:xfrm>
            <a:off x="8805672" y="2624328"/>
            <a:ext cx="1271016" cy="640080"/>
          </a:xfrm>
          <a:prstGeom prst="rect">
            <a:avLst/>
          </a:prstGeom>
          <a:noFill/>
          <a:ln/>
        </p:spPr>
        <p:txBody>
          <a:bodyPr wrap="square" lIns="0" tIns="0" rIns="0" bIns="0" rtlCol="0" anchor="ctr">
            <a:normAutofit/>
          </a:bodyPr>
          <a:lstStyle/>
          <a:p>
            <a:pPr marL="0" indent="0">
              <a:buNone/>
            </a:pPr>
            <a:r>
              <a:rPr lang="en-US" sz="1080" dirty="0">
                <a:solidFill>
                  <a:srgbClr val="111827"/>
                </a:solidFill>
              </a:rPr>
              <a:t>company / ticker / CIK filter</a:t>
            </a:r>
            <a:endParaRPr lang="en-US" sz="1080" dirty="0"/>
          </a:p>
        </p:txBody>
      </p:sp>
      <p:sp>
        <p:nvSpPr>
          <p:cNvPr id="34" name="Shape 32"/>
          <p:cNvSpPr/>
          <p:nvPr/>
        </p:nvSpPr>
        <p:spPr>
          <a:xfrm>
            <a:off x="7635240" y="3840480"/>
            <a:ext cx="1920240" cy="1234440"/>
          </a:xfrm>
          <a:prstGeom prst="roundRect">
            <a:avLst>
              <a:gd name="adj" fmla="val 4444"/>
            </a:avLst>
          </a:prstGeom>
          <a:solidFill>
            <a:srgbClr val="FFFFFF"/>
          </a:solidFill>
          <a:ln w="8890">
            <a:solidFill>
              <a:srgbClr val="D4DEE9"/>
            </a:solidFill>
            <a:prstDash val="solid"/>
          </a:ln>
        </p:spPr>
        <p:txBody>
          <a:bodyPr/>
          <a:lstStyle/>
          <a:p>
            <a:endParaRPr lang="zh-CN" altLang="en-US"/>
          </a:p>
        </p:txBody>
      </p:sp>
      <p:sp>
        <p:nvSpPr>
          <p:cNvPr id="35" name="Text 33"/>
          <p:cNvSpPr/>
          <p:nvPr/>
        </p:nvSpPr>
        <p:spPr>
          <a:xfrm>
            <a:off x="7799832" y="3986784"/>
            <a:ext cx="1591056" cy="201168"/>
          </a:xfrm>
          <a:prstGeom prst="rect">
            <a:avLst/>
          </a:prstGeom>
          <a:noFill/>
          <a:ln/>
        </p:spPr>
        <p:txBody>
          <a:bodyPr wrap="square" lIns="0" tIns="0" rIns="0" bIns="0" rtlCol="0" anchor="ctr"/>
          <a:lstStyle/>
          <a:p>
            <a:pPr marL="0" indent="0">
              <a:buNone/>
            </a:pPr>
            <a:r>
              <a:rPr lang="en-US" sz="1350" b="1" dirty="0">
                <a:solidFill>
                  <a:srgbClr val="E59E19"/>
                </a:solidFill>
              </a:rPr>
              <a:t>Refusal rule</a:t>
            </a:r>
            <a:endParaRPr lang="en-US" sz="1350" dirty="0"/>
          </a:p>
        </p:txBody>
      </p:sp>
      <p:sp>
        <p:nvSpPr>
          <p:cNvPr id="36" name="Text 34"/>
          <p:cNvSpPr/>
          <p:nvPr/>
        </p:nvSpPr>
        <p:spPr>
          <a:xfrm>
            <a:off x="7799832" y="4315968"/>
            <a:ext cx="1591056" cy="640080"/>
          </a:xfrm>
          <a:prstGeom prst="rect">
            <a:avLst/>
          </a:prstGeom>
          <a:noFill/>
          <a:ln/>
        </p:spPr>
        <p:txBody>
          <a:bodyPr wrap="square" lIns="0" tIns="0" rIns="0" bIns="0" rtlCol="0" anchor="ctr">
            <a:normAutofit/>
          </a:bodyPr>
          <a:lstStyle/>
          <a:p>
            <a:pPr marL="0" indent="0">
              <a:buNone/>
            </a:pPr>
            <a:r>
              <a:rPr lang="en-US" sz="1080" dirty="0">
                <a:solidFill>
                  <a:srgbClr val="111827"/>
                </a:solidFill>
              </a:rPr>
              <a:t>refuse if top-1 similarity &lt; 0.20</a:t>
            </a:r>
            <a:endParaRPr lang="en-US" sz="1080" dirty="0"/>
          </a:p>
        </p:txBody>
      </p:sp>
      <p:sp>
        <p:nvSpPr>
          <p:cNvPr id="37" name="Shape 35"/>
          <p:cNvSpPr/>
          <p:nvPr/>
        </p:nvSpPr>
        <p:spPr>
          <a:xfrm>
            <a:off x="7543800" y="3429000"/>
            <a:ext cx="594360" cy="365760"/>
          </a:xfrm>
          <a:prstGeom prst="line">
            <a:avLst/>
          </a:prstGeom>
          <a:noFill/>
          <a:ln w="19050">
            <a:solidFill>
              <a:srgbClr val="5B6770"/>
            </a:solidFill>
            <a:prstDash val="solid"/>
            <a:headEnd type="none"/>
            <a:tailEnd type="triangle"/>
          </a:ln>
        </p:spPr>
        <p:txBody>
          <a:bodyPr/>
          <a:lstStyle/>
          <a:p>
            <a:endParaRPr lang="zh-CN" altLang="en-US"/>
          </a:p>
        </p:txBody>
      </p:sp>
      <p:sp>
        <p:nvSpPr>
          <p:cNvPr id="38" name="Shape 36"/>
          <p:cNvSpPr/>
          <p:nvPr/>
        </p:nvSpPr>
        <p:spPr>
          <a:xfrm>
            <a:off x="9235440" y="3429000"/>
            <a:ext cx="0" cy="365760"/>
          </a:xfrm>
          <a:prstGeom prst="line">
            <a:avLst/>
          </a:prstGeom>
          <a:noFill/>
          <a:ln w="19050">
            <a:solidFill>
              <a:srgbClr val="5B6770"/>
            </a:solidFill>
            <a:prstDash val="solid"/>
            <a:headEnd type="none"/>
            <a:tailEnd type="triangle"/>
          </a:ln>
        </p:spPr>
        <p:txBody>
          <a:bodyPr/>
          <a:lstStyle/>
          <a:p>
            <a:endParaRPr lang="zh-CN" altLang="en-US"/>
          </a:p>
        </p:txBody>
      </p:sp>
      <p:sp>
        <p:nvSpPr>
          <p:cNvPr id="39" name="Text 37"/>
          <p:cNvSpPr/>
          <p:nvPr/>
        </p:nvSpPr>
        <p:spPr>
          <a:xfrm>
            <a:off x="1051560" y="5989320"/>
            <a:ext cx="10058400" cy="228600"/>
          </a:xfrm>
          <a:prstGeom prst="rect">
            <a:avLst/>
          </a:prstGeom>
          <a:noFill/>
          <a:ln/>
        </p:spPr>
        <p:txBody>
          <a:bodyPr wrap="square" lIns="0" tIns="0" rIns="0" bIns="0" rtlCol="0" anchor="ctr"/>
          <a:lstStyle/>
          <a:p>
            <a:pPr marL="0" indent="0" algn="ctr">
              <a:buNone/>
            </a:pPr>
            <a:r>
              <a:rPr lang="en-US" sz="1350" b="1" dirty="0">
                <a:solidFill>
                  <a:srgbClr val="12355B"/>
                </a:solidFill>
              </a:rPr>
              <a:t>Key point: section scoping is enforced by metadata filtering before answer generation — not just by prompt wording.</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384048" y="6510528"/>
            <a:ext cx="4937760" cy="182880"/>
          </a:xfrm>
          <a:prstGeom prst="rect">
            <a:avLst/>
          </a:prstGeom>
          <a:noFill/>
          <a:ln/>
        </p:spPr>
        <p:txBody>
          <a:bodyPr wrap="square" lIns="0" tIns="0" rIns="0" bIns="0" rtlCol="0" anchor="ctr"/>
          <a:lstStyle/>
          <a:p>
            <a:r>
              <a:rPr lang="en-US" altLang="zh-CN" sz="850" dirty="0">
                <a:solidFill>
                  <a:srgbClr val="6B7280"/>
                </a:solidFill>
              </a:rPr>
              <a:t>AD 698 · Applied Generative AI for Business Analytics</a:t>
            </a:r>
          </a:p>
        </p:txBody>
      </p:sp>
      <p:sp>
        <p:nvSpPr>
          <p:cNvPr id="3" name="Text 1"/>
          <p:cNvSpPr/>
          <p:nvPr/>
        </p:nvSpPr>
        <p:spPr>
          <a:xfrm>
            <a:off x="11548872" y="6473952"/>
            <a:ext cx="320040" cy="201168"/>
          </a:xfrm>
          <a:prstGeom prst="rect">
            <a:avLst/>
          </a:prstGeom>
          <a:noFill/>
          <a:ln/>
        </p:spPr>
        <p:txBody>
          <a:bodyPr wrap="square" lIns="0" tIns="0" rIns="0" bIns="0" rtlCol="0" anchor="ctr"/>
          <a:lstStyle/>
          <a:p>
            <a:pPr marL="0" indent="0" algn="r">
              <a:buNone/>
            </a:pPr>
            <a:r>
              <a:rPr lang="en-US" sz="900" dirty="0">
                <a:solidFill>
                  <a:srgbClr val="6B7280"/>
                </a:solidFill>
              </a:rPr>
              <a:t>07</a:t>
            </a:r>
            <a:endParaRPr lang="en-US" sz="900" dirty="0"/>
          </a:p>
        </p:txBody>
      </p:sp>
      <p:sp>
        <p:nvSpPr>
          <p:cNvPr id="4" name="Text 2"/>
          <p:cNvSpPr/>
          <p:nvPr/>
        </p:nvSpPr>
        <p:spPr>
          <a:xfrm>
            <a:off x="502920" y="347472"/>
            <a:ext cx="8961120" cy="411480"/>
          </a:xfrm>
          <a:prstGeom prst="rect">
            <a:avLst/>
          </a:prstGeom>
          <a:noFill/>
          <a:ln/>
        </p:spPr>
        <p:txBody>
          <a:bodyPr wrap="square" lIns="0" tIns="0" rIns="0" bIns="0" rtlCol="0" anchor="ctr"/>
          <a:lstStyle/>
          <a:p>
            <a:pPr marL="0" indent="0">
              <a:buNone/>
            </a:pPr>
            <a:r>
              <a:rPr lang="en-US" sz="2700" b="1" dirty="0">
                <a:solidFill>
                  <a:srgbClr val="12355B"/>
                </a:solidFill>
                <a:latin typeface="Aptos Display" pitchFamily="34" charset="0"/>
                <a:ea typeface="Aptos Display" pitchFamily="34" charset="-122"/>
                <a:cs typeface="Aptos Display" pitchFamily="34" charset="-120"/>
              </a:rPr>
              <a:t>Grounded generation and citation contract</a:t>
            </a:r>
            <a:endParaRPr lang="en-US" sz="2700" dirty="0"/>
          </a:p>
        </p:txBody>
      </p:sp>
      <p:sp>
        <p:nvSpPr>
          <p:cNvPr id="5" name="Text 3"/>
          <p:cNvSpPr/>
          <p:nvPr/>
        </p:nvSpPr>
        <p:spPr>
          <a:xfrm>
            <a:off x="521208" y="786384"/>
            <a:ext cx="9326880" cy="274320"/>
          </a:xfrm>
          <a:prstGeom prst="rect">
            <a:avLst/>
          </a:prstGeom>
          <a:noFill/>
          <a:ln/>
        </p:spPr>
        <p:txBody>
          <a:bodyPr wrap="square" lIns="0" tIns="0" rIns="0" bIns="0" rtlCol="0" anchor="ctr"/>
          <a:lstStyle/>
          <a:p>
            <a:pPr marL="0" indent="0">
              <a:buNone/>
            </a:pPr>
            <a:r>
              <a:rPr lang="en-US" sz="1150" dirty="0">
                <a:solidFill>
                  <a:srgbClr val="6B7280"/>
                </a:solidFill>
              </a:rPr>
              <a:t>The model can answer only through retrieved evidence and must return structured JSON.</a:t>
            </a:r>
            <a:endParaRPr lang="en-US" sz="1150" dirty="0"/>
          </a:p>
        </p:txBody>
      </p:sp>
      <p:sp>
        <p:nvSpPr>
          <p:cNvPr id="8" name="Shape 6"/>
          <p:cNvSpPr/>
          <p:nvPr/>
        </p:nvSpPr>
        <p:spPr>
          <a:xfrm>
            <a:off x="822960" y="1417320"/>
            <a:ext cx="3749040" cy="4343400"/>
          </a:xfrm>
          <a:prstGeom prst="roundRect">
            <a:avLst>
              <a:gd name="adj" fmla="val 1707"/>
            </a:avLst>
          </a:prstGeom>
          <a:solidFill>
            <a:srgbClr val="FFFFFF"/>
          </a:solidFill>
          <a:ln w="8890">
            <a:solidFill>
              <a:srgbClr val="D4DEE9"/>
            </a:solidFill>
            <a:prstDash val="solid"/>
          </a:ln>
        </p:spPr>
        <p:txBody>
          <a:bodyPr/>
          <a:lstStyle/>
          <a:p>
            <a:endParaRPr lang="zh-CN" altLang="en-US"/>
          </a:p>
        </p:txBody>
      </p:sp>
      <p:sp>
        <p:nvSpPr>
          <p:cNvPr id="9" name="Text 7"/>
          <p:cNvSpPr/>
          <p:nvPr/>
        </p:nvSpPr>
        <p:spPr>
          <a:xfrm>
            <a:off x="1143000" y="1691640"/>
            <a:ext cx="3108960" cy="274320"/>
          </a:xfrm>
          <a:prstGeom prst="rect">
            <a:avLst/>
          </a:prstGeom>
          <a:noFill/>
          <a:ln/>
        </p:spPr>
        <p:txBody>
          <a:bodyPr wrap="square" lIns="0" tIns="0" rIns="0" bIns="0" rtlCol="0" anchor="ctr"/>
          <a:lstStyle/>
          <a:p>
            <a:pPr marL="0" indent="0" algn="ctr">
              <a:buNone/>
            </a:pPr>
            <a:r>
              <a:rPr lang="en-US" sz="1800" b="1" dirty="0">
                <a:solidFill>
                  <a:srgbClr val="12355B"/>
                </a:solidFill>
              </a:rPr>
              <a:t>Strict JSON output</a:t>
            </a:r>
            <a:endParaRPr lang="en-US" sz="1800" dirty="0"/>
          </a:p>
        </p:txBody>
      </p:sp>
      <p:sp>
        <p:nvSpPr>
          <p:cNvPr id="10" name="Text 8"/>
          <p:cNvSpPr/>
          <p:nvPr/>
        </p:nvSpPr>
        <p:spPr>
          <a:xfrm>
            <a:off x="1170432" y="2221992"/>
            <a:ext cx="3063240" cy="2542032"/>
          </a:xfrm>
          <a:prstGeom prst="rect">
            <a:avLst/>
          </a:prstGeom>
          <a:solidFill>
            <a:srgbClr val="F7FAFC"/>
          </a:solidFill>
          <a:ln/>
        </p:spPr>
        <p:txBody>
          <a:bodyPr wrap="square" lIns="1016" tIns="1016" rIns="1016" bIns="1016" rtlCol="0" anchor="ctr">
            <a:normAutofit/>
          </a:bodyPr>
          <a:lstStyle/>
          <a:p>
            <a:pPr marL="0" indent="0">
              <a:buNone/>
            </a:pPr>
            <a:r>
              <a:rPr lang="en-US" sz="1400" dirty="0">
                <a:solidFill>
                  <a:srgbClr val="111827"/>
                </a:solidFill>
                <a:latin typeface="Aptos Mono" pitchFamily="34" charset="0"/>
                <a:ea typeface="Aptos Mono" pitchFamily="34" charset="-122"/>
                <a:cs typeface="Aptos Mono" pitchFamily="34" charset="-120"/>
              </a:rPr>
              <a:t>{</a:t>
            </a:r>
            <a:endParaRPr lang="en-US" sz="1400" dirty="0"/>
          </a:p>
          <a:p>
            <a:pPr marL="0" indent="0">
              <a:buNone/>
            </a:pPr>
            <a:r>
              <a:rPr lang="en-US" sz="1400" dirty="0">
                <a:solidFill>
                  <a:srgbClr val="111827"/>
                </a:solidFill>
                <a:latin typeface="Aptos Mono" pitchFamily="34" charset="0"/>
                <a:ea typeface="Aptos Mono" pitchFamily="34" charset="-122"/>
                <a:cs typeface="Aptos Mono" pitchFamily="34" charset="-120"/>
              </a:rPr>
              <a:t>  "answer": "...",</a:t>
            </a:r>
            <a:endParaRPr lang="en-US" sz="1400" dirty="0"/>
          </a:p>
          <a:p>
            <a:pPr marL="0" indent="0">
              <a:buNone/>
            </a:pPr>
            <a:r>
              <a:rPr lang="en-US" sz="1400" dirty="0">
                <a:solidFill>
                  <a:srgbClr val="111827"/>
                </a:solidFill>
                <a:latin typeface="Aptos Mono" pitchFamily="34" charset="0"/>
                <a:ea typeface="Aptos Mono" pitchFamily="34" charset="-122"/>
                <a:cs typeface="Aptos Mono" pitchFamily="34" charset="-120"/>
              </a:rPr>
              <a:t>  "citations": [</a:t>
            </a:r>
            <a:endParaRPr lang="en-US" sz="1400" dirty="0"/>
          </a:p>
          <a:p>
            <a:pPr marL="0" indent="0">
              <a:buNone/>
            </a:pPr>
            <a:r>
              <a:rPr lang="en-US" sz="1400" dirty="0">
                <a:solidFill>
                  <a:srgbClr val="111827"/>
                </a:solidFill>
                <a:latin typeface="Aptos Mono" pitchFamily="34" charset="0"/>
                <a:ea typeface="Aptos Mono" pitchFamily="34" charset="-122"/>
                <a:cs typeface="Aptos Mono" pitchFamily="34" charset="-120"/>
              </a:rPr>
              <a:t>    {"chunk_id": "...",</a:t>
            </a:r>
            <a:endParaRPr lang="en-US" sz="1400" dirty="0"/>
          </a:p>
          <a:p>
            <a:pPr marL="0" indent="0">
              <a:buNone/>
            </a:pPr>
            <a:r>
              <a:rPr lang="en-US" sz="1400" dirty="0">
                <a:solidFill>
                  <a:srgbClr val="111827"/>
                </a:solidFill>
                <a:latin typeface="Aptos Mono" pitchFamily="34" charset="0"/>
                <a:ea typeface="Aptos Mono" pitchFamily="34" charset="-122"/>
                <a:cs typeface="Aptos Mono" pitchFamily="34" charset="-120"/>
              </a:rPr>
              <a:t>     "item": "Item 7"}</a:t>
            </a:r>
            <a:endParaRPr lang="en-US" sz="1400" dirty="0"/>
          </a:p>
          <a:p>
            <a:pPr marL="0" indent="0">
              <a:buNone/>
            </a:pPr>
            <a:r>
              <a:rPr lang="en-US" sz="1400" dirty="0">
                <a:solidFill>
                  <a:srgbClr val="111827"/>
                </a:solidFill>
                <a:latin typeface="Aptos Mono" pitchFamily="34" charset="0"/>
                <a:ea typeface="Aptos Mono" pitchFamily="34" charset="-122"/>
                <a:cs typeface="Aptos Mono" pitchFamily="34" charset="-120"/>
              </a:rPr>
              <a:t>  ],</a:t>
            </a:r>
            <a:endParaRPr lang="en-US" sz="1400" dirty="0"/>
          </a:p>
          <a:p>
            <a:pPr marL="0" indent="0">
              <a:buNone/>
            </a:pPr>
            <a:r>
              <a:rPr lang="en-US" sz="1400" dirty="0">
                <a:solidFill>
                  <a:srgbClr val="111827"/>
                </a:solidFill>
                <a:latin typeface="Aptos Mono" pitchFamily="34" charset="0"/>
                <a:ea typeface="Aptos Mono" pitchFamily="34" charset="-122"/>
                <a:cs typeface="Aptos Mono" pitchFamily="34" charset="-120"/>
              </a:rPr>
              <a:t>  "refused": false</a:t>
            </a:r>
            <a:endParaRPr lang="en-US" sz="1400" dirty="0"/>
          </a:p>
          <a:p>
            <a:pPr marL="0" indent="0">
              <a:buNone/>
            </a:pPr>
            <a:r>
              <a:rPr lang="en-US" sz="1400" dirty="0">
                <a:solidFill>
                  <a:srgbClr val="111827"/>
                </a:solidFill>
                <a:latin typeface="Aptos Mono" pitchFamily="34" charset="0"/>
                <a:ea typeface="Aptos Mono" pitchFamily="34" charset="-122"/>
                <a:cs typeface="Aptos Mono" pitchFamily="34" charset="-120"/>
              </a:rPr>
              <a:t>}</a:t>
            </a:r>
            <a:endParaRPr lang="en-US" sz="1400" dirty="0"/>
          </a:p>
        </p:txBody>
      </p:sp>
      <p:sp>
        <p:nvSpPr>
          <p:cNvPr id="11" name="Shape 9"/>
          <p:cNvSpPr/>
          <p:nvPr/>
        </p:nvSpPr>
        <p:spPr>
          <a:xfrm>
            <a:off x="5074920" y="1417320"/>
            <a:ext cx="6263640" cy="1234440"/>
          </a:xfrm>
          <a:prstGeom prst="roundRect">
            <a:avLst>
              <a:gd name="adj" fmla="val 5185"/>
            </a:avLst>
          </a:prstGeom>
          <a:solidFill>
            <a:srgbClr val="EFF6FF"/>
          </a:solidFill>
          <a:ln w="8890">
            <a:solidFill>
              <a:srgbClr val="CFE1F2"/>
            </a:solidFill>
            <a:prstDash val="solid"/>
          </a:ln>
        </p:spPr>
        <p:txBody>
          <a:bodyPr/>
          <a:lstStyle/>
          <a:p>
            <a:endParaRPr lang="zh-CN" altLang="en-US"/>
          </a:p>
        </p:txBody>
      </p:sp>
      <p:sp>
        <p:nvSpPr>
          <p:cNvPr id="12" name="Text 10"/>
          <p:cNvSpPr/>
          <p:nvPr/>
        </p:nvSpPr>
        <p:spPr>
          <a:xfrm>
            <a:off x="5394960" y="1925619"/>
            <a:ext cx="1463040" cy="228600"/>
          </a:xfrm>
          <a:prstGeom prst="rect">
            <a:avLst/>
          </a:prstGeom>
          <a:noFill/>
          <a:ln/>
        </p:spPr>
        <p:txBody>
          <a:bodyPr wrap="square" lIns="0" tIns="0" rIns="0" bIns="0" rtlCol="0" anchor="ctr"/>
          <a:lstStyle/>
          <a:p>
            <a:pPr marL="0" indent="0">
              <a:buNone/>
            </a:pPr>
            <a:r>
              <a:rPr lang="en-US" sz="1500" b="1" dirty="0">
                <a:solidFill>
                  <a:srgbClr val="1F4E79"/>
                </a:solidFill>
              </a:rPr>
              <a:t>Citation rule</a:t>
            </a:r>
            <a:endParaRPr lang="en-US" sz="1500" dirty="0"/>
          </a:p>
        </p:txBody>
      </p:sp>
      <p:sp>
        <p:nvSpPr>
          <p:cNvPr id="13" name="Text 11"/>
          <p:cNvSpPr/>
          <p:nvPr/>
        </p:nvSpPr>
        <p:spPr>
          <a:xfrm>
            <a:off x="7086421" y="1906524"/>
            <a:ext cx="3886200" cy="256032"/>
          </a:xfrm>
          <a:prstGeom prst="rect">
            <a:avLst/>
          </a:prstGeom>
          <a:noFill/>
          <a:ln/>
        </p:spPr>
        <p:txBody>
          <a:bodyPr wrap="square" lIns="0" tIns="0" rIns="0" bIns="0" rtlCol="0" anchor="ctr">
            <a:noAutofit/>
          </a:bodyPr>
          <a:lstStyle/>
          <a:p>
            <a:pPr marL="0" indent="0">
              <a:buNone/>
            </a:pPr>
            <a:r>
              <a:rPr lang="en-US" sz="1400" dirty="0">
                <a:solidFill>
                  <a:srgbClr val="111827"/>
                </a:solidFill>
              </a:rPr>
              <a:t>Every non-refused answer must cite exact chunk_id + Item number from retrieved context.</a:t>
            </a:r>
            <a:endParaRPr lang="en-US" sz="1400" dirty="0"/>
          </a:p>
        </p:txBody>
      </p:sp>
      <p:sp>
        <p:nvSpPr>
          <p:cNvPr id="14" name="Shape 12"/>
          <p:cNvSpPr/>
          <p:nvPr/>
        </p:nvSpPr>
        <p:spPr>
          <a:xfrm>
            <a:off x="5074920" y="2926080"/>
            <a:ext cx="6263640" cy="1234440"/>
          </a:xfrm>
          <a:prstGeom prst="roundRect">
            <a:avLst>
              <a:gd name="adj" fmla="val 5185"/>
            </a:avLst>
          </a:prstGeom>
          <a:solidFill>
            <a:srgbClr val="F0FDF4"/>
          </a:solidFill>
          <a:ln w="8890">
            <a:solidFill>
              <a:srgbClr val="B7DEC3"/>
            </a:solidFill>
            <a:prstDash val="solid"/>
          </a:ln>
        </p:spPr>
        <p:txBody>
          <a:bodyPr/>
          <a:lstStyle/>
          <a:p>
            <a:endParaRPr lang="zh-CN" altLang="en-US"/>
          </a:p>
        </p:txBody>
      </p:sp>
      <p:sp>
        <p:nvSpPr>
          <p:cNvPr id="15" name="Text 13"/>
          <p:cNvSpPr/>
          <p:nvPr/>
        </p:nvSpPr>
        <p:spPr>
          <a:xfrm>
            <a:off x="5349240" y="3378708"/>
            <a:ext cx="1645920" cy="228600"/>
          </a:xfrm>
          <a:prstGeom prst="rect">
            <a:avLst/>
          </a:prstGeom>
          <a:noFill/>
          <a:ln/>
        </p:spPr>
        <p:txBody>
          <a:bodyPr wrap="square" lIns="0" tIns="0" rIns="0" bIns="0" rtlCol="0" anchor="ctr"/>
          <a:lstStyle/>
          <a:p>
            <a:pPr marL="0" indent="0">
              <a:buNone/>
            </a:pPr>
            <a:r>
              <a:rPr lang="en-US" sz="1500" b="1" dirty="0">
                <a:solidFill>
                  <a:srgbClr val="2E7D32"/>
                </a:solidFill>
              </a:rPr>
              <a:t>Backend options</a:t>
            </a:r>
            <a:endParaRPr lang="en-US" sz="1500" dirty="0"/>
          </a:p>
        </p:txBody>
      </p:sp>
      <p:sp>
        <p:nvSpPr>
          <p:cNvPr id="16" name="Text 14"/>
          <p:cNvSpPr/>
          <p:nvPr/>
        </p:nvSpPr>
        <p:spPr>
          <a:xfrm>
            <a:off x="7086600" y="3364992"/>
            <a:ext cx="3749040" cy="256032"/>
          </a:xfrm>
          <a:prstGeom prst="rect">
            <a:avLst/>
          </a:prstGeom>
          <a:noFill/>
          <a:ln/>
        </p:spPr>
        <p:txBody>
          <a:bodyPr wrap="square" lIns="0" tIns="0" rIns="0" bIns="0" rtlCol="0" anchor="ctr">
            <a:noAutofit/>
          </a:bodyPr>
          <a:lstStyle/>
          <a:p>
            <a:pPr marL="0" indent="0">
              <a:buNone/>
            </a:pPr>
            <a:r>
              <a:rPr lang="en-US" sz="1400" dirty="0">
                <a:solidFill>
                  <a:srgbClr val="111827"/>
                </a:solidFill>
              </a:rPr>
              <a:t>Mock for dry runs; OpenAI gpt-4o-mini and Gemini 1.5-flash for JSON-mode output.</a:t>
            </a:r>
            <a:endParaRPr lang="en-US" sz="1400" dirty="0"/>
          </a:p>
        </p:txBody>
      </p:sp>
      <p:sp>
        <p:nvSpPr>
          <p:cNvPr id="17" name="Shape 15"/>
          <p:cNvSpPr/>
          <p:nvPr/>
        </p:nvSpPr>
        <p:spPr>
          <a:xfrm>
            <a:off x="5074920" y="4434840"/>
            <a:ext cx="6263640" cy="1234440"/>
          </a:xfrm>
          <a:prstGeom prst="roundRect">
            <a:avLst>
              <a:gd name="adj" fmla="val 5185"/>
            </a:avLst>
          </a:prstGeom>
          <a:solidFill>
            <a:srgbClr val="FEF8E7"/>
          </a:solidFill>
          <a:ln w="8890">
            <a:solidFill>
              <a:srgbClr val="F4D796"/>
            </a:solidFill>
            <a:prstDash val="solid"/>
          </a:ln>
        </p:spPr>
        <p:txBody>
          <a:bodyPr/>
          <a:lstStyle/>
          <a:p>
            <a:endParaRPr lang="zh-CN" altLang="en-US"/>
          </a:p>
        </p:txBody>
      </p:sp>
      <p:sp>
        <p:nvSpPr>
          <p:cNvPr id="18" name="Text 16"/>
          <p:cNvSpPr/>
          <p:nvPr/>
        </p:nvSpPr>
        <p:spPr>
          <a:xfrm>
            <a:off x="5394960" y="4956048"/>
            <a:ext cx="1508760" cy="228600"/>
          </a:xfrm>
          <a:prstGeom prst="rect">
            <a:avLst/>
          </a:prstGeom>
          <a:noFill/>
          <a:ln/>
        </p:spPr>
        <p:txBody>
          <a:bodyPr wrap="square" lIns="0" tIns="0" rIns="0" bIns="0" rtlCol="0" anchor="ctr"/>
          <a:lstStyle/>
          <a:p>
            <a:pPr marL="0" indent="0">
              <a:buNone/>
            </a:pPr>
            <a:r>
              <a:rPr lang="en-US" sz="1500" b="1" dirty="0">
                <a:solidFill>
                  <a:srgbClr val="E59E19"/>
                </a:solidFill>
              </a:rPr>
              <a:t>Refusal logic</a:t>
            </a:r>
            <a:endParaRPr lang="en-US" sz="1500" dirty="0"/>
          </a:p>
        </p:txBody>
      </p:sp>
      <p:sp>
        <p:nvSpPr>
          <p:cNvPr id="19" name="Text 17"/>
          <p:cNvSpPr/>
          <p:nvPr/>
        </p:nvSpPr>
        <p:spPr>
          <a:xfrm>
            <a:off x="7086600" y="4956048"/>
            <a:ext cx="3886200" cy="256032"/>
          </a:xfrm>
          <a:prstGeom prst="rect">
            <a:avLst/>
          </a:prstGeom>
          <a:noFill/>
          <a:ln/>
        </p:spPr>
        <p:txBody>
          <a:bodyPr wrap="square" lIns="0" tIns="0" rIns="0" bIns="0" rtlCol="0" anchor="ctr">
            <a:noAutofit/>
          </a:bodyPr>
          <a:lstStyle/>
          <a:p>
            <a:pPr marL="0" indent="0">
              <a:buNone/>
            </a:pPr>
            <a:r>
              <a:rPr lang="en-US" sz="1400" dirty="0">
                <a:solidFill>
                  <a:srgbClr val="111827"/>
                </a:solidFill>
              </a:rPr>
              <a:t>If retrieved evidence is weak or outside scope, output refused=true instead of guessing.</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384048" y="6510528"/>
            <a:ext cx="4937760" cy="182880"/>
          </a:xfrm>
          <a:prstGeom prst="rect">
            <a:avLst/>
          </a:prstGeom>
          <a:noFill/>
          <a:ln/>
        </p:spPr>
        <p:txBody>
          <a:bodyPr wrap="square" lIns="0" tIns="0" rIns="0" bIns="0" rtlCol="0" anchor="ctr"/>
          <a:lstStyle/>
          <a:p>
            <a:r>
              <a:rPr lang="en-US" altLang="zh-CN" sz="850" dirty="0">
                <a:solidFill>
                  <a:srgbClr val="6B7280"/>
                </a:solidFill>
              </a:rPr>
              <a:t>AD 698 · Applied Generative AI for Business Analytics</a:t>
            </a:r>
          </a:p>
        </p:txBody>
      </p:sp>
      <p:sp>
        <p:nvSpPr>
          <p:cNvPr id="3" name="Text 1"/>
          <p:cNvSpPr/>
          <p:nvPr/>
        </p:nvSpPr>
        <p:spPr>
          <a:xfrm>
            <a:off x="11548872" y="6473952"/>
            <a:ext cx="320040" cy="201168"/>
          </a:xfrm>
          <a:prstGeom prst="rect">
            <a:avLst/>
          </a:prstGeom>
          <a:noFill/>
          <a:ln/>
        </p:spPr>
        <p:txBody>
          <a:bodyPr wrap="square" lIns="0" tIns="0" rIns="0" bIns="0" rtlCol="0" anchor="ctr"/>
          <a:lstStyle/>
          <a:p>
            <a:pPr marL="0" indent="0" algn="r">
              <a:buNone/>
            </a:pPr>
            <a:r>
              <a:rPr lang="en-US" sz="900" dirty="0">
                <a:solidFill>
                  <a:srgbClr val="6B7280"/>
                </a:solidFill>
              </a:rPr>
              <a:t>08</a:t>
            </a:r>
            <a:endParaRPr lang="en-US" sz="900" dirty="0"/>
          </a:p>
        </p:txBody>
      </p:sp>
      <p:sp>
        <p:nvSpPr>
          <p:cNvPr id="4" name="Text 2"/>
          <p:cNvSpPr/>
          <p:nvPr/>
        </p:nvSpPr>
        <p:spPr>
          <a:xfrm>
            <a:off x="502920" y="347472"/>
            <a:ext cx="8961120" cy="411480"/>
          </a:xfrm>
          <a:prstGeom prst="rect">
            <a:avLst/>
          </a:prstGeom>
          <a:noFill/>
          <a:ln/>
        </p:spPr>
        <p:txBody>
          <a:bodyPr wrap="square" lIns="0" tIns="0" rIns="0" bIns="0" rtlCol="0" anchor="ctr"/>
          <a:lstStyle/>
          <a:p>
            <a:pPr marL="0" indent="0">
              <a:buNone/>
            </a:pPr>
            <a:r>
              <a:rPr lang="en-US" sz="2700" b="1" dirty="0">
                <a:solidFill>
                  <a:srgbClr val="12355B"/>
                </a:solidFill>
                <a:latin typeface="Aptos Display" pitchFamily="34" charset="0"/>
                <a:ea typeface="Aptos Display" pitchFamily="34" charset="-122"/>
                <a:cs typeface="Aptos Display" pitchFamily="34" charset="-120"/>
              </a:rPr>
              <a:t>Evaluation plan: reliability, not just fluency</a:t>
            </a:r>
            <a:endParaRPr lang="en-US" sz="2700" dirty="0"/>
          </a:p>
        </p:txBody>
      </p:sp>
      <p:sp>
        <p:nvSpPr>
          <p:cNvPr id="5" name="Text 3"/>
          <p:cNvSpPr/>
          <p:nvPr/>
        </p:nvSpPr>
        <p:spPr>
          <a:xfrm>
            <a:off x="521208" y="786384"/>
            <a:ext cx="9326880" cy="274320"/>
          </a:xfrm>
          <a:prstGeom prst="rect">
            <a:avLst/>
          </a:prstGeom>
          <a:noFill/>
          <a:ln/>
        </p:spPr>
        <p:txBody>
          <a:bodyPr wrap="square" lIns="0" tIns="0" rIns="0" bIns="0" rtlCol="0" anchor="ctr"/>
          <a:lstStyle/>
          <a:p>
            <a:pPr marL="0" indent="0">
              <a:buNone/>
            </a:pPr>
            <a:r>
              <a:rPr lang="en-US" sz="1150" dirty="0">
                <a:solidFill>
                  <a:srgbClr val="6B7280"/>
                </a:solidFill>
              </a:rPr>
              <a:t>The final checks test retrieval accuracy, grounding, section integrity, and refusal behavior.</a:t>
            </a:r>
            <a:endParaRPr lang="en-US" sz="1150" dirty="0"/>
          </a:p>
        </p:txBody>
      </p:sp>
      <p:sp>
        <p:nvSpPr>
          <p:cNvPr id="8" name="Shape 6"/>
          <p:cNvSpPr/>
          <p:nvPr/>
        </p:nvSpPr>
        <p:spPr>
          <a:xfrm>
            <a:off x="777240" y="1481328"/>
            <a:ext cx="3337560" cy="1325880"/>
          </a:xfrm>
          <a:prstGeom prst="roundRect">
            <a:avLst>
              <a:gd name="adj" fmla="val 4138"/>
            </a:avLst>
          </a:prstGeom>
          <a:solidFill>
            <a:srgbClr val="FFFFFF"/>
          </a:solidFill>
          <a:ln w="8890">
            <a:solidFill>
              <a:srgbClr val="D4DEE9"/>
            </a:solidFill>
            <a:prstDash val="solid"/>
          </a:ln>
        </p:spPr>
        <p:txBody>
          <a:bodyPr/>
          <a:lstStyle/>
          <a:p>
            <a:endParaRPr lang="zh-CN" altLang="en-US"/>
          </a:p>
        </p:txBody>
      </p:sp>
      <p:sp>
        <p:nvSpPr>
          <p:cNvPr id="9" name="Shape 7"/>
          <p:cNvSpPr/>
          <p:nvPr/>
        </p:nvSpPr>
        <p:spPr>
          <a:xfrm>
            <a:off x="777240" y="1481328"/>
            <a:ext cx="146304" cy="1325880"/>
          </a:xfrm>
          <a:prstGeom prst="rect">
            <a:avLst/>
          </a:prstGeom>
          <a:solidFill>
            <a:srgbClr val="1F4E79"/>
          </a:solidFill>
          <a:ln w="12700">
            <a:solidFill>
              <a:srgbClr val="333333">
                <a:alpha val="0"/>
              </a:srgbClr>
            </a:solidFill>
            <a:prstDash val="solid"/>
          </a:ln>
        </p:spPr>
        <p:txBody>
          <a:bodyPr/>
          <a:lstStyle/>
          <a:p>
            <a:endParaRPr lang="zh-CN" altLang="en-US"/>
          </a:p>
        </p:txBody>
      </p:sp>
      <p:sp>
        <p:nvSpPr>
          <p:cNvPr id="10" name="Text 8"/>
          <p:cNvSpPr/>
          <p:nvPr/>
        </p:nvSpPr>
        <p:spPr>
          <a:xfrm>
            <a:off x="1097280" y="1682496"/>
            <a:ext cx="2834640" cy="201168"/>
          </a:xfrm>
          <a:prstGeom prst="rect">
            <a:avLst/>
          </a:prstGeom>
          <a:noFill/>
          <a:ln/>
        </p:spPr>
        <p:txBody>
          <a:bodyPr wrap="square" lIns="0" tIns="0" rIns="0" bIns="0" rtlCol="0" anchor="ctr">
            <a:normAutofit/>
          </a:bodyPr>
          <a:lstStyle/>
          <a:p>
            <a:pPr marL="0" indent="0">
              <a:buNone/>
            </a:pPr>
            <a:r>
              <a:rPr lang="en-US" sz="1320" b="1" dirty="0">
                <a:solidFill>
                  <a:srgbClr val="1F4E79"/>
                </a:solidFill>
              </a:rPr>
              <a:t>Retrieval accuracy</a:t>
            </a:r>
            <a:endParaRPr lang="en-US" sz="1320" dirty="0"/>
          </a:p>
        </p:txBody>
      </p:sp>
      <p:sp>
        <p:nvSpPr>
          <p:cNvPr id="11" name="Text 9"/>
          <p:cNvSpPr/>
          <p:nvPr/>
        </p:nvSpPr>
        <p:spPr>
          <a:xfrm>
            <a:off x="1097280" y="2084832"/>
            <a:ext cx="2834640" cy="438912"/>
          </a:xfrm>
          <a:prstGeom prst="rect">
            <a:avLst/>
          </a:prstGeom>
          <a:noFill/>
          <a:ln/>
        </p:spPr>
        <p:txBody>
          <a:bodyPr wrap="square" lIns="0" tIns="0" rIns="0" bIns="0" rtlCol="0" anchor="ctr">
            <a:normAutofit/>
          </a:bodyPr>
          <a:lstStyle/>
          <a:p>
            <a:pPr marL="0" indent="0">
              <a:buNone/>
            </a:pPr>
            <a:r>
              <a:rPr lang="en-US" sz="1400" dirty="0">
                <a:solidFill>
                  <a:srgbClr val="111827"/>
                </a:solidFill>
              </a:rPr>
              <a:t>Hit@5 / Recall@5</a:t>
            </a:r>
            <a:endParaRPr lang="en-US" sz="1400" dirty="0"/>
          </a:p>
          <a:p>
            <a:pPr marL="0" indent="0">
              <a:buNone/>
            </a:pPr>
            <a:r>
              <a:rPr lang="en-US" sz="1400" dirty="0">
                <a:solidFill>
                  <a:srgbClr val="111827"/>
                </a:solidFill>
              </a:rPr>
              <a:t>20 human-labeled Q→chunk pairs</a:t>
            </a:r>
            <a:endParaRPr lang="en-US" sz="1400" dirty="0"/>
          </a:p>
        </p:txBody>
      </p:sp>
      <p:sp>
        <p:nvSpPr>
          <p:cNvPr id="12" name="Shape 10"/>
          <p:cNvSpPr/>
          <p:nvPr/>
        </p:nvSpPr>
        <p:spPr>
          <a:xfrm>
            <a:off x="4434840" y="1481328"/>
            <a:ext cx="3337560" cy="1325880"/>
          </a:xfrm>
          <a:prstGeom prst="roundRect">
            <a:avLst>
              <a:gd name="adj" fmla="val 4138"/>
            </a:avLst>
          </a:prstGeom>
          <a:solidFill>
            <a:srgbClr val="FFFFFF"/>
          </a:solidFill>
          <a:ln w="8890">
            <a:solidFill>
              <a:srgbClr val="D4DEE9"/>
            </a:solidFill>
            <a:prstDash val="solid"/>
          </a:ln>
        </p:spPr>
        <p:txBody>
          <a:bodyPr/>
          <a:lstStyle/>
          <a:p>
            <a:endParaRPr lang="zh-CN" altLang="en-US"/>
          </a:p>
        </p:txBody>
      </p:sp>
      <p:sp>
        <p:nvSpPr>
          <p:cNvPr id="13" name="Shape 11"/>
          <p:cNvSpPr/>
          <p:nvPr/>
        </p:nvSpPr>
        <p:spPr>
          <a:xfrm>
            <a:off x="4434840" y="1481328"/>
            <a:ext cx="146304" cy="1325880"/>
          </a:xfrm>
          <a:prstGeom prst="rect">
            <a:avLst/>
          </a:prstGeom>
          <a:solidFill>
            <a:srgbClr val="0F766E"/>
          </a:solidFill>
          <a:ln w="12700">
            <a:solidFill>
              <a:srgbClr val="333333">
                <a:alpha val="0"/>
              </a:srgbClr>
            </a:solidFill>
            <a:prstDash val="solid"/>
          </a:ln>
        </p:spPr>
        <p:txBody>
          <a:bodyPr/>
          <a:lstStyle/>
          <a:p>
            <a:endParaRPr lang="zh-CN" altLang="en-US"/>
          </a:p>
        </p:txBody>
      </p:sp>
      <p:sp>
        <p:nvSpPr>
          <p:cNvPr id="14" name="Text 12"/>
          <p:cNvSpPr/>
          <p:nvPr/>
        </p:nvSpPr>
        <p:spPr>
          <a:xfrm>
            <a:off x="4754880" y="1682496"/>
            <a:ext cx="2834640" cy="201168"/>
          </a:xfrm>
          <a:prstGeom prst="rect">
            <a:avLst/>
          </a:prstGeom>
          <a:noFill/>
          <a:ln/>
        </p:spPr>
        <p:txBody>
          <a:bodyPr wrap="square" lIns="0" tIns="0" rIns="0" bIns="0" rtlCol="0" anchor="ctr">
            <a:normAutofit/>
          </a:bodyPr>
          <a:lstStyle/>
          <a:p>
            <a:pPr marL="0" indent="0">
              <a:buNone/>
            </a:pPr>
            <a:r>
              <a:rPr lang="en-US" sz="1320" b="1" dirty="0">
                <a:solidFill>
                  <a:srgbClr val="0F766E"/>
                </a:solidFill>
              </a:rPr>
              <a:t>Grounding reliability</a:t>
            </a:r>
            <a:endParaRPr lang="en-US" sz="1320" dirty="0"/>
          </a:p>
        </p:txBody>
      </p:sp>
      <p:sp>
        <p:nvSpPr>
          <p:cNvPr id="15" name="Text 13"/>
          <p:cNvSpPr/>
          <p:nvPr/>
        </p:nvSpPr>
        <p:spPr>
          <a:xfrm>
            <a:off x="4754880" y="2084832"/>
            <a:ext cx="2834640" cy="438912"/>
          </a:xfrm>
          <a:prstGeom prst="rect">
            <a:avLst/>
          </a:prstGeom>
          <a:noFill/>
          <a:ln/>
        </p:spPr>
        <p:txBody>
          <a:bodyPr wrap="square" lIns="0" tIns="0" rIns="0" bIns="0" rtlCol="0" anchor="ctr">
            <a:normAutofit/>
          </a:bodyPr>
          <a:lstStyle/>
          <a:p>
            <a:pPr marL="0" indent="0">
              <a:buNone/>
            </a:pPr>
            <a:r>
              <a:rPr lang="en-US" sz="1400" dirty="0">
                <a:solidFill>
                  <a:srgbClr val="111827"/>
                </a:solidFill>
              </a:rPr>
              <a:t>Citation coverage</a:t>
            </a:r>
            <a:endParaRPr lang="en-US" sz="1400" dirty="0"/>
          </a:p>
          <a:p>
            <a:pPr marL="0" indent="0">
              <a:buNone/>
            </a:pPr>
            <a:r>
              <a:rPr lang="en-US" sz="1400" dirty="0">
                <a:solidFill>
                  <a:srgbClr val="111827"/>
                </a:solidFill>
              </a:rPr>
              <a:t>non-refused answers cite ≥1 chunk</a:t>
            </a:r>
            <a:endParaRPr lang="en-US" sz="1400" dirty="0"/>
          </a:p>
        </p:txBody>
      </p:sp>
      <p:sp>
        <p:nvSpPr>
          <p:cNvPr id="16" name="Shape 14"/>
          <p:cNvSpPr/>
          <p:nvPr/>
        </p:nvSpPr>
        <p:spPr>
          <a:xfrm>
            <a:off x="8092440" y="1481328"/>
            <a:ext cx="3337560" cy="1325880"/>
          </a:xfrm>
          <a:prstGeom prst="roundRect">
            <a:avLst>
              <a:gd name="adj" fmla="val 4138"/>
            </a:avLst>
          </a:prstGeom>
          <a:solidFill>
            <a:srgbClr val="FFFFFF"/>
          </a:solidFill>
          <a:ln w="8890">
            <a:solidFill>
              <a:srgbClr val="D4DEE9"/>
            </a:solidFill>
            <a:prstDash val="solid"/>
          </a:ln>
        </p:spPr>
        <p:txBody>
          <a:bodyPr/>
          <a:lstStyle/>
          <a:p>
            <a:endParaRPr lang="zh-CN" altLang="en-US"/>
          </a:p>
        </p:txBody>
      </p:sp>
      <p:sp>
        <p:nvSpPr>
          <p:cNvPr id="17" name="Shape 15"/>
          <p:cNvSpPr/>
          <p:nvPr/>
        </p:nvSpPr>
        <p:spPr>
          <a:xfrm>
            <a:off x="8092440" y="1481328"/>
            <a:ext cx="146304" cy="1325880"/>
          </a:xfrm>
          <a:prstGeom prst="rect">
            <a:avLst/>
          </a:prstGeom>
          <a:solidFill>
            <a:srgbClr val="E59E19"/>
          </a:solidFill>
          <a:ln w="12700">
            <a:solidFill>
              <a:srgbClr val="333333">
                <a:alpha val="0"/>
              </a:srgbClr>
            </a:solidFill>
            <a:prstDash val="solid"/>
          </a:ln>
        </p:spPr>
        <p:txBody>
          <a:bodyPr/>
          <a:lstStyle/>
          <a:p>
            <a:endParaRPr lang="zh-CN" altLang="en-US"/>
          </a:p>
        </p:txBody>
      </p:sp>
      <p:sp>
        <p:nvSpPr>
          <p:cNvPr id="18" name="Text 16"/>
          <p:cNvSpPr/>
          <p:nvPr/>
        </p:nvSpPr>
        <p:spPr>
          <a:xfrm>
            <a:off x="8412480" y="1682496"/>
            <a:ext cx="2834640" cy="201168"/>
          </a:xfrm>
          <a:prstGeom prst="rect">
            <a:avLst/>
          </a:prstGeom>
          <a:noFill/>
          <a:ln/>
        </p:spPr>
        <p:txBody>
          <a:bodyPr wrap="square" lIns="0" tIns="0" rIns="0" bIns="0" rtlCol="0" anchor="ctr">
            <a:normAutofit/>
          </a:bodyPr>
          <a:lstStyle/>
          <a:p>
            <a:pPr marL="0" indent="0">
              <a:buNone/>
            </a:pPr>
            <a:r>
              <a:rPr lang="en-US" sz="1320" b="1" dirty="0">
                <a:solidFill>
                  <a:srgbClr val="E59E19"/>
                </a:solidFill>
              </a:rPr>
              <a:t>Hallucination estimate</a:t>
            </a:r>
            <a:endParaRPr lang="en-US" sz="1320" dirty="0"/>
          </a:p>
        </p:txBody>
      </p:sp>
      <p:sp>
        <p:nvSpPr>
          <p:cNvPr id="19" name="Text 17"/>
          <p:cNvSpPr/>
          <p:nvPr/>
        </p:nvSpPr>
        <p:spPr>
          <a:xfrm>
            <a:off x="8412480" y="2084832"/>
            <a:ext cx="2834640" cy="438912"/>
          </a:xfrm>
          <a:prstGeom prst="rect">
            <a:avLst/>
          </a:prstGeom>
          <a:noFill/>
          <a:ln/>
        </p:spPr>
        <p:txBody>
          <a:bodyPr wrap="square" lIns="0" tIns="0" rIns="0" bIns="0" rtlCol="0" anchor="ctr">
            <a:normAutofit/>
          </a:bodyPr>
          <a:lstStyle/>
          <a:p>
            <a:pPr marL="0" indent="0">
              <a:buNone/>
            </a:pPr>
            <a:r>
              <a:rPr lang="en-US" sz="1400" dirty="0">
                <a:solidFill>
                  <a:srgbClr val="111827"/>
                </a:solidFill>
              </a:rPr>
              <a:t>LLM-as-judge spot-check</a:t>
            </a:r>
            <a:endParaRPr lang="en-US" sz="1400" dirty="0"/>
          </a:p>
          <a:p>
            <a:pPr marL="0" indent="0">
              <a:buNone/>
            </a:pPr>
            <a:r>
              <a:rPr lang="en-US" sz="1400" dirty="0">
                <a:solidFill>
                  <a:srgbClr val="111827"/>
                </a:solidFill>
              </a:rPr>
              <a:t>answer vs. cited chunk text</a:t>
            </a:r>
            <a:endParaRPr lang="en-US" sz="1400" dirty="0"/>
          </a:p>
        </p:txBody>
      </p:sp>
      <p:sp>
        <p:nvSpPr>
          <p:cNvPr id="20" name="Shape 18"/>
          <p:cNvSpPr/>
          <p:nvPr/>
        </p:nvSpPr>
        <p:spPr>
          <a:xfrm>
            <a:off x="1691640" y="3703320"/>
            <a:ext cx="3749040" cy="1325880"/>
          </a:xfrm>
          <a:prstGeom prst="roundRect">
            <a:avLst>
              <a:gd name="adj" fmla="val 4138"/>
            </a:avLst>
          </a:prstGeom>
          <a:solidFill>
            <a:srgbClr val="FFFFFF"/>
          </a:solidFill>
          <a:ln w="8890">
            <a:solidFill>
              <a:srgbClr val="D4DEE9"/>
            </a:solidFill>
            <a:prstDash val="solid"/>
          </a:ln>
        </p:spPr>
        <p:txBody>
          <a:bodyPr/>
          <a:lstStyle/>
          <a:p>
            <a:endParaRPr lang="zh-CN" altLang="en-US"/>
          </a:p>
        </p:txBody>
      </p:sp>
      <p:sp>
        <p:nvSpPr>
          <p:cNvPr id="21" name="Shape 19"/>
          <p:cNvSpPr/>
          <p:nvPr/>
        </p:nvSpPr>
        <p:spPr>
          <a:xfrm>
            <a:off x="1691640" y="3703320"/>
            <a:ext cx="146304" cy="1325880"/>
          </a:xfrm>
          <a:prstGeom prst="rect">
            <a:avLst/>
          </a:prstGeom>
          <a:solidFill>
            <a:srgbClr val="2E7D32"/>
          </a:solidFill>
          <a:ln w="12700">
            <a:solidFill>
              <a:srgbClr val="333333">
                <a:alpha val="0"/>
              </a:srgbClr>
            </a:solidFill>
            <a:prstDash val="solid"/>
          </a:ln>
        </p:spPr>
        <p:txBody>
          <a:bodyPr/>
          <a:lstStyle/>
          <a:p>
            <a:endParaRPr lang="zh-CN" altLang="en-US"/>
          </a:p>
        </p:txBody>
      </p:sp>
      <p:sp>
        <p:nvSpPr>
          <p:cNvPr id="22" name="Text 20"/>
          <p:cNvSpPr/>
          <p:nvPr/>
        </p:nvSpPr>
        <p:spPr>
          <a:xfrm>
            <a:off x="2011680" y="3904488"/>
            <a:ext cx="3246120" cy="201168"/>
          </a:xfrm>
          <a:prstGeom prst="rect">
            <a:avLst/>
          </a:prstGeom>
          <a:noFill/>
          <a:ln/>
        </p:spPr>
        <p:txBody>
          <a:bodyPr wrap="square" lIns="0" tIns="0" rIns="0" bIns="0" rtlCol="0" anchor="ctr">
            <a:normAutofit/>
          </a:bodyPr>
          <a:lstStyle/>
          <a:p>
            <a:pPr marL="0" indent="0">
              <a:buNone/>
            </a:pPr>
            <a:r>
              <a:rPr lang="en-US" sz="1320" b="1" dirty="0">
                <a:solidFill>
                  <a:srgbClr val="2E7D32"/>
                </a:solidFill>
              </a:rPr>
              <a:t>Section integrity</a:t>
            </a:r>
            <a:endParaRPr lang="en-US" sz="1320" dirty="0"/>
          </a:p>
        </p:txBody>
      </p:sp>
      <p:sp>
        <p:nvSpPr>
          <p:cNvPr id="23" name="Text 21"/>
          <p:cNvSpPr/>
          <p:nvPr/>
        </p:nvSpPr>
        <p:spPr>
          <a:xfrm>
            <a:off x="2011680" y="4306824"/>
            <a:ext cx="3246120" cy="438912"/>
          </a:xfrm>
          <a:prstGeom prst="rect">
            <a:avLst/>
          </a:prstGeom>
          <a:noFill/>
          <a:ln/>
        </p:spPr>
        <p:txBody>
          <a:bodyPr wrap="square" lIns="0" tIns="0" rIns="0" bIns="0" rtlCol="0" anchor="ctr">
            <a:normAutofit/>
          </a:bodyPr>
          <a:lstStyle/>
          <a:p>
            <a:pPr marL="0" indent="0">
              <a:buNone/>
            </a:pPr>
            <a:r>
              <a:rPr lang="en-US" sz="1400" dirty="0">
                <a:solidFill>
                  <a:srgbClr val="111827"/>
                </a:solidFill>
              </a:rPr>
              <a:t>Leakage = 0</a:t>
            </a:r>
            <a:endParaRPr lang="en-US" sz="1400" dirty="0"/>
          </a:p>
          <a:p>
            <a:pPr marL="0" indent="0">
              <a:buNone/>
            </a:pPr>
            <a:r>
              <a:rPr lang="en-US" sz="1400" dirty="0">
                <a:solidFill>
                  <a:srgbClr val="111827"/>
                </a:solidFill>
              </a:rPr>
              <a:t>all cited Items inside allow-list</a:t>
            </a:r>
            <a:endParaRPr lang="en-US" sz="1400" dirty="0"/>
          </a:p>
        </p:txBody>
      </p:sp>
      <p:sp>
        <p:nvSpPr>
          <p:cNvPr id="24" name="Shape 22"/>
          <p:cNvSpPr/>
          <p:nvPr/>
        </p:nvSpPr>
        <p:spPr>
          <a:xfrm>
            <a:off x="6446520" y="3703320"/>
            <a:ext cx="3749040" cy="1325880"/>
          </a:xfrm>
          <a:prstGeom prst="roundRect">
            <a:avLst>
              <a:gd name="adj" fmla="val 4138"/>
            </a:avLst>
          </a:prstGeom>
          <a:solidFill>
            <a:srgbClr val="FFFFFF"/>
          </a:solidFill>
          <a:ln w="8890">
            <a:solidFill>
              <a:srgbClr val="D4DEE9"/>
            </a:solidFill>
            <a:prstDash val="solid"/>
          </a:ln>
        </p:spPr>
        <p:txBody>
          <a:bodyPr/>
          <a:lstStyle/>
          <a:p>
            <a:endParaRPr lang="zh-CN" altLang="en-US"/>
          </a:p>
        </p:txBody>
      </p:sp>
      <p:sp>
        <p:nvSpPr>
          <p:cNvPr id="25" name="Shape 23"/>
          <p:cNvSpPr/>
          <p:nvPr/>
        </p:nvSpPr>
        <p:spPr>
          <a:xfrm>
            <a:off x="6446520" y="3703320"/>
            <a:ext cx="146304" cy="1325880"/>
          </a:xfrm>
          <a:prstGeom prst="rect">
            <a:avLst/>
          </a:prstGeom>
          <a:solidFill>
            <a:srgbClr val="C0504D"/>
          </a:solidFill>
          <a:ln w="12700">
            <a:solidFill>
              <a:srgbClr val="333333">
                <a:alpha val="0"/>
              </a:srgbClr>
            </a:solidFill>
            <a:prstDash val="solid"/>
          </a:ln>
        </p:spPr>
        <p:txBody>
          <a:bodyPr/>
          <a:lstStyle/>
          <a:p>
            <a:endParaRPr lang="zh-CN" altLang="en-US"/>
          </a:p>
        </p:txBody>
      </p:sp>
      <p:sp>
        <p:nvSpPr>
          <p:cNvPr id="26" name="Text 24"/>
          <p:cNvSpPr/>
          <p:nvPr/>
        </p:nvSpPr>
        <p:spPr>
          <a:xfrm>
            <a:off x="6766560" y="3904488"/>
            <a:ext cx="3246120" cy="201168"/>
          </a:xfrm>
          <a:prstGeom prst="rect">
            <a:avLst/>
          </a:prstGeom>
          <a:noFill/>
          <a:ln/>
        </p:spPr>
        <p:txBody>
          <a:bodyPr wrap="square" lIns="0" tIns="0" rIns="0" bIns="0" rtlCol="0" anchor="ctr">
            <a:normAutofit/>
          </a:bodyPr>
          <a:lstStyle/>
          <a:p>
            <a:pPr marL="0" indent="0">
              <a:buNone/>
            </a:pPr>
            <a:r>
              <a:rPr lang="en-US" sz="1320" b="1" dirty="0">
                <a:solidFill>
                  <a:srgbClr val="C0504D"/>
                </a:solidFill>
              </a:rPr>
              <a:t>Refusal calibration</a:t>
            </a:r>
            <a:endParaRPr lang="en-US" sz="1320" dirty="0"/>
          </a:p>
        </p:txBody>
      </p:sp>
      <p:sp>
        <p:nvSpPr>
          <p:cNvPr id="27" name="Text 25"/>
          <p:cNvSpPr/>
          <p:nvPr/>
        </p:nvSpPr>
        <p:spPr>
          <a:xfrm>
            <a:off x="6766560" y="4306824"/>
            <a:ext cx="3246120" cy="438912"/>
          </a:xfrm>
          <a:prstGeom prst="rect">
            <a:avLst/>
          </a:prstGeom>
          <a:noFill/>
          <a:ln/>
        </p:spPr>
        <p:txBody>
          <a:bodyPr wrap="square" lIns="0" tIns="0" rIns="0" bIns="0" rtlCol="0" anchor="ctr">
            <a:normAutofit/>
          </a:bodyPr>
          <a:lstStyle/>
          <a:p>
            <a:pPr marL="0" indent="0">
              <a:buNone/>
            </a:pPr>
            <a:r>
              <a:rPr lang="en-US" sz="1400" dirty="0">
                <a:solidFill>
                  <a:srgbClr val="111827"/>
                </a:solidFill>
              </a:rPr>
              <a:t>Top-1 similarity distributions</a:t>
            </a:r>
            <a:endParaRPr lang="en-US" sz="1400" dirty="0"/>
          </a:p>
          <a:p>
            <a:pPr marL="0" indent="0">
              <a:buNone/>
            </a:pPr>
            <a:r>
              <a:rPr lang="en-US" sz="1400" dirty="0">
                <a:solidFill>
                  <a:srgbClr val="111827"/>
                </a:solidFill>
              </a:rPr>
              <a:t>answered vs. refused</a:t>
            </a:r>
            <a:endParaRPr lang="en-US" sz="1400" dirty="0"/>
          </a:p>
        </p:txBody>
      </p:sp>
      <p:sp>
        <p:nvSpPr>
          <p:cNvPr id="28" name="Shape 26"/>
          <p:cNvSpPr/>
          <p:nvPr/>
        </p:nvSpPr>
        <p:spPr>
          <a:xfrm>
            <a:off x="1828800" y="5413248"/>
            <a:ext cx="8503920" cy="502920"/>
          </a:xfrm>
          <a:prstGeom prst="roundRect">
            <a:avLst>
              <a:gd name="adj" fmla="val 9091"/>
            </a:avLst>
          </a:prstGeom>
          <a:solidFill>
            <a:srgbClr val="EEF5FB"/>
          </a:solidFill>
          <a:ln w="12700">
            <a:solidFill>
              <a:srgbClr val="333333">
                <a:alpha val="0"/>
              </a:srgbClr>
            </a:solidFill>
            <a:prstDash val="solid"/>
          </a:ln>
        </p:spPr>
        <p:txBody>
          <a:bodyPr/>
          <a:lstStyle/>
          <a:p>
            <a:endParaRPr lang="zh-CN" altLang="en-US"/>
          </a:p>
        </p:txBody>
      </p:sp>
      <p:sp>
        <p:nvSpPr>
          <p:cNvPr id="29" name="Text 27"/>
          <p:cNvSpPr/>
          <p:nvPr/>
        </p:nvSpPr>
        <p:spPr>
          <a:xfrm>
            <a:off x="2148840" y="5577840"/>
            <a:ext cx="7863840" cy="164592"/>
          </a:xfrm>
          <a:prstGeom prst="rect">
            <a:avLst/>
          </a:prstGeom>
          <a:noFill/>
          <a:ln/>
        </p:spPr>
        <p:txBody>
          <a:bodyPr wrap="square" lIns="0" tIns="0" rIns="0" bIns="0" rtlCol="0" anchor="ctr"/>
          <a:lstStyle/>
          <a:p>
            <a:pPr marL="0" indent="0" algn="ctr">
              <a:buNone/>
            </a:pPr>
            <a:r>
              <a:rPr lang="en-US" sz="1400" b="1" dirty="0">
                <a:solidFill>
                  <a:srgbClr val="12355B"/>
                </a:solidFill>
              </a:rPr>
              <a:t>Question pack: 15 structured questions across Items 7, 7A, and 8, repeated across 15–20 firms.</a:t>
            </a:r>
            <a:endParaRPr lang="en-US" sz="1400" dirty="0"/>
          </a:p>
        </p:txBody>
      </p:sp>
      <p:sp>
        <p:nvSpPr>
          <p:cNvPr id="30" name="Text 28"/>
          <p:cNvSpPr/>
          <p:nvPr/>
        </p:nvSpPr>
        <p:spPr>
          <a:xfrm>
            <a:off x="1188720" y="6144768"/>
            <a:ext cx="9784080" cy="228600"/>
          </a:xfrm>
          <a:prstGeom prst="rect">
            <a:avLst/>
          </a:prstGeom>
          <a:noFill/>
          <a:ln/>
        </p:spPr>
        <p:txBody>
          <a:bodyPr wrap="square" lIns="0" tIns="0" rIns="0" bIns="0" rtlCol="0" anchor="ctr"/>
          <a:lstStyle/>
          <a:p>
            <a:pPr marL="0" indent="0" algn="ctr">
              <a:buNone/>
            </a:pPr>
            <a:r>
              <a:rPr lang="en-US" sz="1400" b="1" dirty="0">
                <a:solidFill>
                  <a:srgbClr val="12355B"/>
                </a:solidFill>
              </a:rPr>
              <a:t>Evaluation goal: prove that answers are grounded, cited, and inside the regulatory retrieval boundary.</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384048" y="6510528"/>
            <a:ext cx="4937760" cy="182880"/>
          </a:xfrm>
          <a:prstGeom prst="rect">
            <a:avLst/>
          </a:prstGeom>
          <a:noFill/>
          <a:ln/>
        </p:spPr>
        <p:txBody>
          <a:bodyPr wrap="square" lIns="0" tIns="0" rIns="0" bIns="0" rtlCol="0" anchor="ctr"/>
          <a:lstStyle/>
          <a:p>
            <a:r>
              <a:rPr lang="en-US" altLang="zh-CN" sz="850" dirty="0">
                <a:solidFill>
                  <a:srgbClr val="6B7280"/>
                </a:solidFill>
              </a:rPr>
              <a:t>AD 698 · Applied Generative AI for Business Analytics</a:t>
            </a:r>
          </a:p>
        </p:txBody>
      </p:sp>
      <p:sp>
        <p:nvSpPr>
          <p:cNvPr id="3" name="Text 1"/>
          <p:cNvSpPr/>
          <p:nvPr/>
        </p:nvSpPr>
        <p:spPr>
          <a:xfrm>
            <a:off x="11548872" y="6473952"/>
            <a:ext cx="320040" cy="201168"/>
          </a:xfrm>
          <a:prstGeom prst="rect">
            <a:avLst/>
          </a:prstGeom>
          <a:noFill/>
          <a:ln/>
        </p:spPr>
        <p:txBody>
          <a:bodyPr wrap="square" lIns="0" tIns="0" rIns="0" bIns="0" rtlCol="0" anchor="ctr"/>
          <a:lstStyle/>
          <a:p>
            <a:pPr marL="0" indent="0" algn="r">
              <a:buNone/>
            </a:pPr>
            <a:r>
              <a:rPr lang="en-US" sz="900" dirty="0">
                <a:solidFill>
                  <a:srgbClr val="6B7280"/>
                </a:solidFill>
              </a:rPr>
              <a:t>09</a:t>
            </a:r>
            <a:endParaRPr lang="en-US" sz="900" dirty="0"/>
          </a:p>
        </p:txBody>
      </p:sp>
      <p:sp>
        <p:nvSpPr>
          <p:cNvPr id="4" name="Text 2"/>
          <p:cNvSpPr/>
          <p:nvPr/>
        </p:nvSpPr>
        <p:spPr>
          <a:xfrm>
            <a:off x="502920" y="347472"/>
            <a:ext cx="8961120" cy="411480"/>
          </a:xfrm>
          <a:prstGeom prst="rect">
            <a:avLst/>
          </a:prstGeom>
          <a:noFill/>
          <a:ln/>
        </p:spPr>
        <p:txBody>
          <a:bodyPr wrap="square" lIns="0" tIns="0" rIns="0" bIns="0" rtlCol="0" anchor="ctr"/>
          <a:lstStyle/>
          <a:p>
            <a:pPr marL="0" indent="0">
              <a:buNone/>
            </a:pPr>
            <a:r>
              <a:rPr lang="en-US" sz="2700" b="1" dirty="0">
                <a:solidFill>
                  <a:srgbClr val="12355B"/>
                </a:solidFill>
                <a:latin typeface="Aptos Display" pitchFamily="34" charset="0"/>
                <a:ea typeface="Aptos Display" pitchFamily="34" charset="-122"/>
                <a:cs typeface="Aptos Display" pitchFamily="34" charset="-120"/>
              </a:rPr>
              <a:t>Risks, mitigations, and final takeaways</a:t>
            </a:r>
            <a:endParaRPr lang="en-US" sz="2700" dirty="0"/>
          </a:p>
        </p:txBody>
      </p:sp>
      <p:sp>
        <p:nvSpPr>
          <p:cNvPr id="5" name="Text 3"/>
          <p:cNvSpPr/>
          <p:nvPr/>
        </p:nvSpPr>
        <p:spPr>
          <a:xfrm>
            <a:off x="521208" y="786384"/>
            <a:ext cx="9326880" cy="274320"/>
          </a:xfrm>
          <a:prstGeom prst="rect">
            <a:avLst/>
          </a:prstGeom>
          <a:noFill/>
          <a:ln/>
        </p:spPr>
        <p:txBody>
          <a:bodyPr wrap="square" lIns="0" tIns="0" rIns="0" bIns="0" rtlCol="0" anchor="ctr"/>
          <a:lstStyle/>
          <a:p>
            <a:pPr marL="0" indent="0">
              <a:buNone/>
            </a:pPr>
            <a:r>
              <a:rPr lang="en-US" sz="1150" dirty="0">
                <a:solidFill>
                  <a:srgbClr val="6B7280"/>
                </a:solidFill>
              </a:rPr>
              <a:t>The design anticipates practical failure modes in financial RAG.</a:t>
            </a:r>
            <a:endParaRPr lang="en-US" sz="1150" dirty="0"/>
          </a:p>
        </p:txBody>
      </p:sp>
      <p:sp>
        <p:nvSpPr>
          <p:cNvPr id="8" name="Shape 6"/>
          <p:cNvSpPr/>
          <p:nvPr/>
        </p:nvSpPr>
        <p:spPr>
          <a:xfrm>
            <a:off x="685800" y="1325880"/>
            <a:ext cx="6858000" cy="4251960"/>
          </a:xfrm>
          <a:prstGeom prst="roundRect">
            <a:avLst>
              <a:gd name="adj" fmla="val 1290"/>
            </a:avLst>
          </a:prstGeom>
          <a:solidFill>
            <a:srgbClr val="FFFFFF"/>
          </a:solidFill>
          <a:ln w="8890">
            <a:solidFill>
              <a:srgbClr val="D4DEE9"/>
            </a:solidFill>
            <a:prstDash val="solid"/>
          </a:ln>
        </p:spPr>
        <p:txBody>
          <a:bodyPr/>
          <a:lstStyle/>
          <a:p>
            <a:endParaRPr lang="zh-CN" altLang="en-US"/>
          </a:p>
        </p:txBody>
      </p:sp>
      <p:sp>
        <p:nvSpPr>
          <p:cNvPr id="9" name="Text 7"/>
          <p:cNvSpPr/>
          <p:nvPr/>
        </p:nvSpPr>
        <p:spPr>
          <a:xfrm>
            <a:off x="1005840" y="1581912"/>
            <a:ext cx="6217920" cy="228600"/>
          </a:xfrm>
          <a:prstGeom prst="rect">
            <a:avLst/>
          </a:prstGeom>
          <a:noFill/>
          <a:ln/>
        </p:spPr>
        <p:txBody>
          <a:bodyPr wrap="square" lIns="0" tIns="0" rIns="0" bIns="0" rtlCol="0" anchor="ctr"/>
          <a:lstStyle/>
          <a:p>
            <a:pPr marL="0" indent="0" algn="ctr">
              <a:buNone/>
            </a:pPr>
            <a:r>
              <a:rPr lang="en-US" sz="1700" b="1" dirty="0">
                <a:solidFill>
                  <a:srgbClr val="12355B"/>
                </a:solidFill>
              </a:rPr>
              <a:t>Key risk → mitigation</a:t>
            </a:r>
            <a:endParaRPr lang="en-US" sz="1700" dirty="0"/>
          </a:p>
        </p:txBody>
      </p:sp>
      <p:sp>
        <p:nvSpPr>
          <p:cNvPr id="10" name="Shape 8"/>
          <p:cNvSpPr/>
          <p:nvPr/>
        </p:nvSpPr>
        <p:spPr>
          <a:xfrm>
            <a:off x="960120" y="2029968"/>
            <a:ext cx="6309360" cy="9144"/>
          </a:xfrm>
          <a:prstGeom prst="rect">
            <a:avLst/>
          </a:prstGeom>
          <a:solidFill>
            <a:srgbClr val="E5E7EB"/>
          </a:solidFill>
          <a:ln w="12700">
            <a:solidFill>
              <a:srgbClr val="333333">
                <a:alpha val="0"/>
              </a:srgbClr>
            </a:solidFill>
            <a:prstDash val="solid"/>
          </a:ln>
        </p:spPr>
        <p:txBody>
          <a:bodyPr/>
          <a:lstStyle/>
          <a:p>
            <a:endParaRPr lang="zh-CN" altLang="en-US"/>
          </a:p>
        </p:txBody>
      </p:sp>
      <p:sp>
        <p:nvSpPr>
          <p:cNvPr id="11" name="Text 9"/>
          <p:cNvSpPr/>
          <p:nvPr/>
        </p:nvSpPr>
        <p:spPr>
          <a:xfrm>
            <a:off x="1024128" y="2103120"/>
            <a:ext cx="2011680" cy="201168"/>
          </a:xfrm>
          <a:prstGeom prst="rect">
            <a:avLst/>
          </a:prstGeom>
          <a:noFill/>
          <a:ln/>
        </p:spPr>
        <p:txBody>
          <a:bodyPr wrap="square" lIns="0" tIns="0" rIns="0" bIns="0" rtlCol="0" anchor="ctr">
            <a:normAutofit/>
          </a:bodyPr>
          <a:lstStyle/>
          <a:p>
            <a:pPr marL="0" indent="0">
              <a:buNone/>
            </a:pPr>
            <a:r>
              <a:rPr lang="en-US" sz="1150" b="1" dirty="0">
                <a:solidFill>
                  <a:srgbClr val="1F4E79"/>
                </a:solidFill>
              </a:rPr>
              <a:t>Cross-firm contamination</a:t>
            </a:r>
            <a:endParaRPr lang="en-US" sz="1150" dirty="0"/>
          </a:p>
        </p:txBody>
      </p:sp>
      <p:sp>
        <p:nvSpPr>
          <p:cNvPr id="12" name="Text 10"/>
          <p:cNvSpPr/>
          <p:nvPr/>
        </p:nvSpPr>
        <p:spPr>
          <a:xfrm>
            <a:off x="3246120" y="2103120"/>
            <a:ext cx="3794760" cy="228600"/>
          </a:xfrm>
          <a:prstGeom prst="rect">
            <a:avLst/>
          </a:prstGeom>
          <a:noFill/>
          <a:ln/>
        </p:spPr>
        <p:txBody>
          <a:bodyPr wrap="square" lIns="0" tIns="0" rIns="0" bIns="0" rtlCol="0" anchor="ctr">
            <a:normAutofit/>
          </a:bodyPr>
          <a:lstStyle/>
          <a:p>
            <a:pPr marL="0" indent="0">
              <a:buNone/>
            </a:pPr>
            <a:r>
              <a:rPr lang="en-US" sz="1120" dirty="0">
                <a:solidFill>
                  <a:srgbClr val="111827"/>
                </a:solidFill>
              </a:rPr>
              <a:t>Firm-specific query + future ticker/CIK metadata filter</a:t>
            </a:r>
            <a:endParaRPr lang="en-US" sz="1120" dirty="0"/>
          </a:p>
        </p:txBody>
      </p:sp>
      <p:sp>
        <p:nvSpPr>
          <p:cNvPr id="13" name="Shape 11"/>
          <p:cNvSpPr/>
          <p:nvPr/>
        </p:nvSpPr>
        <p:spPr>
          <a:xfrm>
            <a:off x="960120" y="2633472"/>
            <a:ext cx="6309360" cy="9144"/>
          </a:xfrm>
          <a:prstGeom prst="rect">
            <a:avLst/>
          </a:prstGeom>
          <a:solidFill>
            <a:srgbClr val="E5E7EB"/>
          </a:solidFill>
          <a:ln w="12700">
            <a:solidFill>
              <a:srgbClr val="333333">
                <a:alpha val="0"/>
              </a:srgbClr>
            </a:solidFill>
            <a:prstDash val="solid"/>
          </a:ln>
        </p:spPr>
        <p:txBody>
          <a:bodyPr/>
          <a:lstStyle/>
          <a:p>
            <a:endParaRPr lang="zh-CN" altLang="en-US"/>
          </a:p>
        </p:txBody>
      </p:sp>
      <p:sp>
        <p:nvSpPr>
          <p:cNvPr id="14" name="Text 12"/>
          <p:cNvSpPr/>
          <p:nvPr/>
        </p:nvSpPr>
        <p:spPr>
          <a:xfrm>
            <a:off x="1024128" y="2706624"/>
            <a:ext cx="2011680" cy="201168"/>
          </a:xfrm>
          <a:prstGeom prst="rect">
            <a:avLst/>
          </a:prstGeom>
          <a:noFill/>
          <a:ln/>
        </p:spPr>
        <p:txBody>
          <a:bodyPr wrap="square" lIns="0" tIns="0" rIns="0" bIns="0" rtlCol="0" anchor="ctr">
            <a:normAutofit fontScale="92500"/>
          </a:bodyPr>
          <a:lstStyle/>
          <a:p>
            <a:pPr marL="0" indent="0">
              <a:buNone/>
            </a:pPr>
            <a:r>
              <a:rPr lang="en-US" sz="1150" b="1" dirty="0">
                <a:solidFill>
                  <a:srgbClr val="1F4E79"/>
                </a:solidFill>
              </a:rPr>
              <a:t>Parametric knowledge leakage</a:t>
            </a:r>
            <a:endParaRPr lang="en-US" sz="1150" dirty="0"/>
          </a:p>
        </p:txBody>
      </p:sp>
      <p:sp>
        <p:nvSpPr>
          <p:cNvPr id="15" name="Text 13"/>
          <p:cNvSpPr/>
          <p:nvPr/>
        </p:nvSpPr>
        <p:spPr>
          <a:xfrm>
            <a:off x="3246120" y="2706624"/>
            <a:ext cx="3794760" cy="228600"/>
          </a:xfrm>
          <a:prstGeom prst="rect">
            <a:avLst/>
          </a:prstGeom>
          <a:noFill/>
          <a:ln/>
        </p:spPr>
        <p:txBody>
          <a:bodyPr wrap="square" lIns="0" tIns="0" rIns="0" bIns="0" rtlCol="0" anchor="ctr">
            <a:normAutofit fontScale="77500" lnSpcReduction="20000"/>
          </a:bodyPr>
          <a:lstStyle/>
          <a:p>
            <a:pPr marL="0" indent="0">
              <a:buNone/>
            </a:pPr>
            <a:r>
              <a:rPr lang="en-US" sz="1120" dirty="0">
                <a:solidFill>
                  <a:srgbClr val="111827"/>
                </a:solidFill>
              </a:rPr>
              <a:t>Temperature 0 · JSON refusal · LLM-as-judge hallucination spot-check</a:t>
            </a:r>
            <a:endParaRPr lang="en-US" sz="1120" dirty="0"/>
          </a:p>
        </p:txBody>
      </p:sp>
      <p:sp>
        <p:nvSpPr>
          <p:cNvPr id="16" name="Shape 14"/>
          <p:cNvSpPr/>
          <p:nvPr/>
        </p:nvSpPr>
        <p:spPr>
          <a:xfrm>
            <a:off x="960120" y="3236976"/>
            <a:ext cx="6309360" cy="9144"/>
          </a:xfrm>
          <a:prstGeom prst="rect">
            <a:avLst/>
          </a:prstGeom>
          <a:solidFill>
            <a:srgbClr val="E5E7EB"/>
          </a:solidFill>
          <a:ln w="12700">
            <a:solidFill>
              <a:srgbClr val="333333">
                <a:alpha val="0"/>
              </a:srgbClr>
            </a:solidFill>
            <a:prstDash val="solid"/>
          </a:ln>
        </p:spPr>
        <p:txBody>
          <a:bodyPr/>
          <a:lstStyle/>
          <a:p>
            <a:endParaRPr lang="zh-CN" altLang="en-US"/>
          </a:p>
        </p:txBody>
      </p:sp>
      <p:sp>
        <p:nvSpPr>
          <p:cNvPr id="17" name="Text 15"/>
          <p:cNvSpPr/>
          <p:nvPr/>
        </p:nvSpPr>
        <p:spPr>
          <a:xfrm>
            <a:off x="1024128" y="3310128"/>
            <a:ext cx="2011680" cy="201168"/>
          </a:xfrm>
          <a:prstGeom prst="rect">
            <a:avLst/>
          </a:prstGeom>
          <a:noFill/>
          <a:ln/>
        </p:spPr>
        <p:txBody>
          <a:bodyPr wrap="square" lIns="0" tIns="0" rIns="0" bIns="0" rtlCol="0" anchor="ctr">
            <a:normAutofit/>
          </a:bodyPr>
          <a:lstStyle/>
          <a:p>
            <a:pPr marL="0" indent="0">
              <a:buNone/>
            </a:pPr>
            <a:r>
              <a:rPr lang="en-US" sz="1150" b="1" dirty="0">
                <a:solidFill>
                  <a:srgbClr val="1F4E79"/>
                </a:solidFill>
              </a:rPr>
              <a:t>Generic boilerplate retrieval</a:t>
            </a:r>
            <a:endParaRPr lang="en-US" sz="1150" dirty="0"/>
          </a:p>
        </p:txBody>
      </p:sp>
      <p:sp>
        <p:nvSpPr>
          <p:cNvPr id="18" name="Text 16"/>
          <p:cNvSpPr/>
          <p:nvPr/>
        </p:nvSpPr>
        <p:spPr>
          <a:xfrm>
            <a:off x="3246120" y="3310128"/>
            <a:ext cx="3794760" cy="228600"/>
          </a:xfrm>
          <a:prstGeom prst="rect">
            <a:avLst/>
          </a:prstGeom>
          <a:noFill/>
          <a:ln/>
        </p:spPr>
        <p:txBody>
          <a:bodyPr wrap="square" lIns="0" tIns="0" rIns="0" bIns="0" rtlCol="0" anchor="ctr">
            <a:normAutofit/>
          </a:bodyPr>
          <a:lstStyle/>
          <a:p>
            <a:pPr marL="0" indent="0">
              <a:buNone/>
            </a:pPr>
            <a:r>
              <a:rPr lang="en-US" sz="1120" dirty="0">
                <a:solidFill>
                  <a:srgbClr val="111827"/>
                </a:solidFill>
              </a:rPr>
              <a:t>Monitor top chunks; future boilerplate filtering</a:t>
            </a:r>
            <a:endParaRPr lang="en-US" sz="1120" dirty="0"/>
          </a:p>
        </p:txBody>
      </p:sp>
      <p:sp>
        <p:nvSpPr>
          <p:cNvPr id="19" name="Shape 17"/>
          <p:cNvSpPr/>
          <p:nvPr/>
        </p:nvSpPr>
        <p:spPr>
          <a:xfrm>
            <a:off x="960120" y="3840480"/>
            <a:ext cx="6309360" cy="9144"/>
          </a:xfrm>
          <a:prstGeom prst="rect">
            <a:avLst/>
          </a:prstGeom>
          <a:solidFill>
            <a:srgbClr val="E5E7EB"/>
          </a:solidFill>
          <a:ln w="12700">
            <a:solidFill>
              <a:srgbClr val="333333">
                <a:alpha val="0"/>
              </a:srgbClr>
            </a:solidFill>
            <a:prstDash val="solid"/>
          </a:ln>
        </p:spPr>
        <p:txBody>
          <a:bodyPr/>
          <a:lstStyle/>
          <a:p>
            <a:endParaRPr lang="zh-CN" altLang="en-US"/>
          </a:p>
        </p:txBody>
      </p:sp>
      <p:sp>
        <p:nvSpPr>
          <p:cNvPr id="20" name="Text 18"/>
          <p:cNvSpPr/>
          <p:nvPr/>
        </p:nvSpPr>
        <p:spPr>
          <a:xfrm>
            <a:off x="1024128" y="3913632"/>
            <a:ext cx="2011680" cy="201168"/>
          </a:xfrm>
          <a:prstGeom prst="rect">
            <a:avLst/>
          </a:prstGeom>
          <a:noFill/>
          <a:ln/>
        </p:spPr>
        <p:txBody>
          <a:bodyPr wrap="square" lIns="0" tIns="0" rIns="0" bIns="0" rtlCol="0" anchor="ctr">
            <a:normAutofit/>
          </a:bodyPr>
          <a:lstStyle/>
          <a:p>
            <a:pPr marL="0" indent="0">
              <a:buNone/>
            </a:pPr>
            <a:r>
              <a:rPr lang="en-US" sz="1150" b="1" dirty="0">
                <a:solidFill>
                  <a:srgbClr val="1F4E79"/>
                </a:solidFill>
              </a:rPr>
              <a:t>Domain gap in embeddings</a:t>
            </a:r>
            <a:endParaRPr lang="en-US" sz="1150" dirty="0"/>
          </a:p>
        </p:txBody>
      </p:sp>
      <p:sp>
        <p:nvSpPr>
          <p:cNvPr id="21" name="Text 19"/>
          <p:cNvSpPr/>
          <p:nvPr/>
        </p:nvSpPr>
        <p:spPr>
          <a:xfrm>
            <a:off x="3246120" y="3913632"/>
            <a:ext cx="3794760" cy="228600"/>
          </a:xfrm>
          <a:prstGeom prst="rect">
            <a:avLst/>
          </a:prstGeom>
          <a:noFill/>
          <a:ln/>
        </p:spPr>
        <p:txBody>
          <a:bodyPr wrap="square" lIns="0" tIns="0" rIns="0" bIns="0" rtlCol="0" anchor="ctr">
            <a:normAutofit/>
          </a:bodyPr>
          <a:lstStyle/>
          <a:p>
            <a:pPr marL="0" indent="0">
              <a:buNone/>
            </a:pPr>
            <a:r>
              <a:rPr lang="en-US" sz="1120" dirty="0">
                <a:solidFill>
                  <a:srgbClr val="111827"/>
                </a:solidFill>
              </a:rPr>
              <a:t>BGE-small baseline; future finance encoder ablation</a:t>
            </a:r>
            <a:endParaRPr lang="en-US" sz="1120" dirty="0"/>
          </a:p>
        </p:txBody>
      </p:sp>
      <p:sp>
        <p:nvSpPr>
          <p:cNvPr id="22" name="Shape 20"/>
          <p:cNvSpPr/>
          <p:nvPr/>
        </p:nvSpPr>
        <p:spPr>
          <a:xfrm>
            <a:off x="960120" y="4443984"/>
            <a:ext cx="6309360" cy="9144"/>
          </a:xfrm>
          <a:prstGeom prst="rect">
            <a:avLst/>
          </a:prstGeom>
          <a:solidFill>
            <a:srgbClr val="E5E7EB"/>
          </a:solidFill>
          <a:ln w="12700">
            <a:solidFill>
              <a:srgbClr val="333333">
                <a:alpha val="0"/>
              </a:srgbClr>
            </a:solidFill>
            <a:prstDash val="solid"/>
          </a:ln>
        </p:spPr>
        <p:txBody>
          <a:bodyPr/>
          <a:lstStyle/>
          <a:p>
            <a:endParaRPr lang="zh-CN" altLang="en-US"/>
          </a:p>
        </p:txBody>
      </p:sp>
      <p:sp>
        <p:nvSpPr>
          <p:cNvPr id="23" name="Text 21"/>
          <p:cNvSpPr/>
          <p:nvPr/>
        </p:nvSpPr>
        <p:spPr>
          <a:xfrm>
            <a:off x="1024128" y="4517136"/>
            <a:ext cx="2011680" cy="201168"/>
          </a:xfrm>
          <a:prstGeom prst="rect">
            <a:avLst/>
          </a:prstGeom>
          <a:noFill/>
          <a:ln/>
        </p:spPr>
        <p:txBody>
          <a:bodyPr wrap="square" lIns="0" tIns="0" rIns="0" bIns="0" rtlCol="0" anchor="ctr">
            <a:normAutofit/>
          </a:bodyPr>
          <a:lstStyle/>
          <a:p>
            <a:pPr marL="0" indent="0">
              <a:buNone/>
            </a:pPr>
            <a:r>
              <a:rPr lang="en-US" sz="1150" b="1" dirty="0">
                <a:solidFill>
                  <a:srgbClr val="1F4E79"/>
                </a:solidFill>
              </a:rPr>
              <a:t>Exact numeric table lookup</a:t>
            </a:r>
            <a:endParaRPr lang="en-US" sz="1150" dirty="0"/>
          </a:p>
        </p:txBody>
      </p:sp>
      <p:sp>
        <p:nvSpPr>
          <p:cNvPr id="24" name="Text 22"/>
          <p:cNvSpPr/>
          <p:nvPr/>
        </p:nvSpPr>
        <p:spPr>
          <a:xfrm>
            <a:off x="3246120" y="4517136"/>
            <a:ext cx="3794760" cy="228600"/>
          </a:xfrm>
          <a:prstGeom prst="rect">
            <a:avLst/>
          </a:prstGeom>
          <a:noFill/>
          <a:ln/>
        </p:spPr>
        <p:txBody>
          <a:bodyPr wrap="square" lIns="0" tIns="0" rIns="0" bIns="0" rtlCol="0" anchor="ctr">
            <a:normAutofit/>
          </a:bodyPr>
          <a:lstStyle/>
          <a:p>
            <a:pPr marL="0" indent="0">
              <a:buNone/>
            </a:pPr>
            <a:r>
              <a:rPr lang="en-US" sz="1120" dirty="0">
                <a:solidFill>
                  <a:srgbClr val="111827"/>
                </a:solidFill>
              </a:rPr>
              <a:t>Document as out of scope; future structured-table retriever</a:t>
            </a:r>
            <a:endParaRPr lang="en-US" sz="1120" dirty="0"/>
          </a:p>
        </p:txBody>
      </p:sp>
      <p:sp>
        <p:nvSpPr>
          <p:cNvPr id="25" name="Shape 23"/>
          <p:cNvSpPr/>
          <p:nvPr/>
        </p:nvSpPr>
        <p:spPr>
          <a:xfrm>
            <a:off x="8275320" y="1325880"/>
            <a:ext cx="2926080" cy="4251960"/>
          </a:xfrm>
          <a:prstGeom prst="roundRect">
            <a:avLst>
              <a:gd name="adj" fmla="val 1875"/>
            </a:avLst>
          </a:prstGeom>
          <a:solidFill>
            <a:srgbClr val="EEF5FB"/>
          </a:solidFill>
          <a:ln w="8890">
            <a:solidFill>
              <a:srgbClr val="CFE1F2"/>
            </a:solidFill>
            <a:prstDash val="solid"/>
          </a:ln>
        </p:spPr>
        <p:txBody>
          <a:bodyPr/>
          <a:lstStyle/>
          <a:p>
            <a:endParaRPr lang="zh-CN" altLang="en-US"/>
          </a:p>
        </p:txBody>
      </p:sp>
      <p:sp>
        <p:nvSpPr>
          <p:cNvPr id="26" name="Text 24"/>
          <p:cNvSpPr/>
          <p:nvPr/>
        </p:nvSpPr>
        <p:spPr>
          <a:xfrm>
            <a:off x="8595360" y="1627632"/>
            <a:ext cx="2286000" cy="228600"/>
          </a:xfrm>
          <a:prstGeom prst="rect">
            <a:avLst/>
          </a:prstGeom>
          <a:noFill/>
          <a:ln/>
        </p:spPr>
        <p:txBody>
          <a:bodyPr wrap="square" lIns="0" tIns="0" rIns="0" bIns="0" rtlCol="0" anchor="ctr"/>
          <a:lstStyle/>
          <a:p>
            <a:pPr marL="0" indent="0" algn="ctr">
              <a:buNone/>
            </a:pPr>
            <a:r>
              <a:rPr lang="en-US" sz="1700" b="1" dirty="0">
                <a:solidFill>
                  <a:srgbClr val="12355B"/>
                </a:solidFill>
              </a:rPr>
              <a:t>Three takeaways</a:t>
            </a:r>
            <a:endParaRPr lang="en-US" sz="1700" dirty="0"/>
          </a:p>
        </p:txBody>
      </p:sp>
      <p:sp>
        <p:nvSpPr>
          <p:cNvPr id="27" name="Shape 25"/>
          <p:cNvSpPr/>
          <p:nvPr/>
        </p:nvSpPr>
        <p:spPr>
          <a:xfrm>
            <a:off x="8732520" y="2240280"/>
            <a:ext cx="320040" cy="320040"/>
          </a:xfrm>
          <a:prstGeom prst="ellipse">
            <a:avLst/>
          </a:prstGeom>
          <a:solidFill>
            <a:srgbClr val="0F766E"/>
          </a:solidFill>
          <a:ln w="12700">
            <a:solidFill>
              <a:srgbClr val="333333">
                <a:alpha val="0"/>
              </a:srgbClr>
            </a:solidFill>
            <a:prstDash val="solid"/>
          </a:ln>
        </p:spPr>
        <p:txBody>
          <a:bodyPr/>
          <a:lstStyle/>
          <a:p>
            <a:endParaRPr lang="zh-CN" altLang="en-US"/>
          </a:p>
        </p:txBody>
      </p:sp>
      <p:sp>
        <p:nvSpPr>
          <p:cNvPr id="28" name="Text 26"/>
          <p:cNvSpPr/>
          <p:nvPr/>
        </p:nvSpPr>
        <p:spPr>
          <a:xfrm>
            <a:off x="8732520" y="2313432"/>
            <a:ext cx="320040" cy="109728"/>
          </a:xfrm>
          <a:prstGeom prst="rect">
            <a:avLst/>
          </a:prstGeom>
          <a:noFill/>
          <a:ln/>
        </p:spPr>
        <p:txBody>
          <a:bodyPr wrap="square" lIns="0" tIns="0" rIns="0" bIns="0" rtlCol="0" anchor="ctr"/>
          <a:lstStyle/>
          <a:p>
            <a:pPr marL="0" indent="0" algn="ctr">
              <a:buNone/>
            </a:pPr>
            <a:r>
              <a:rPr lang="en-US" sz="850" b="1" dirty="0">
                <a:solidFill>
                  <a:srgbClr val="FFFFFF"/>
                </a:solidFill>
              </a:rPr>
              <a:t>1</a:t>
            </a:r>
            <a:endParaRPr lang="en-US" sz="850" dirty="0"/>
          </a:p>
        </p:txBody>
      </p:sp>
      <p:sp>
        <p:nvSpPr>
          <p:cNvPr id="29" name="Text 27"/>
          <p:cNvSpPr/>
          <p:nvPr/>
        </p:nvSpPr>
        <p:spPr>
          <a:xfrm>
            <a:off x="9217152" y="2194560"/>
            <a:ext cx="1645920" cy="347472"/>
          </a:xfrm>
          <a:prstGeom prst="rect">
            <a:avLst/>
          </a:prstGeom>
          <a:noFill/>
          <a:ln/>
        </p:spPr>
        <p:txBody>
          <a:bodyPr wrap="square" lIns="0" tIns="0" rIns="0" bIns="0" rtlCol="0" anchor="ctr">
            <a:normAutofit lnSpcReduction="10000"/>
          </a:bodyPr>
          <a:lstStyle/>
          <a:p>
            <a:pPr marL="0" indent="0">
              <a:buNone/>
            </a:pPr>
            <a:r>
              <a:rPr lang="en-US" sz="1260" b="1" dirty="0">
                <a:solidFill>
                  <a:srgbClr val="111827"/>
                </a:solidFill>
              </a:rPr>
              <a:t>Regulatory scope is a retrieval-layer rule.</a:t>
            </a:r>
            <a:endParaRPr lang="en-US" sz="1260" dirty="0"/>
          </a:p>
        </p:txBody>
      </p:sp>
      <p:sp>
        <p:nvSpPr>
          <p:cNvPr id="30" name="Shape 28"/>
          <p:cNvSpPr/>
          <p:nvPr/>
        </p:nvSpPr>
        <p:spPr>
          <a:xfrm>
            <a:off x="8732520" y="3017520"/>
            <a:ext cx="320040" cy="320040"/>
          </a:xfrm>
          <a:prstGeom prst="ellipse">
            <a:avLst/>
          </a:prstGeom>
          <a:solidFill>
            <a:srgbClr val="1F4E79"/>
          </a:solidFill>
          <a:ln w="12700">
            <a:solidFill>
              <a:srgbClr val="333333">
                <a:alpha val="0"/>
              </a:srgbClr>
            </a:solidFill>
            <a:prstDash val="solid"/>
          </a:ln>
        </p:spPr>
        <p:txBody>
          <a:bodyPr/>
          <a:lstStyle/>
          <a:p>
            <a:endParaRPr lang="zh-CN" altLang="en-US"/>
          </a:p>
        </p:txBody>
      </p:sp>
      <p:sp>
        <p:nvSpPr>
          <p:cNvPr id="31" name="Text 29"/>
          <p:cNvSpPr/>
          <p:nvPr/>
        </p:nvSpPr>
        <p:spPr>
          <a:xfrm>
            <a:off x="8732520" y="3090672"/>
            <a:ext cx="320040" cy="109728"/>
          </a:xfrm>
          <a:prstGeom prst="rect">
            <a:avLst/>
          </a:prstGeom>
          <a:noFill/>
          <a:ln/>
        </p:spPr>
        <p:txBody>
          <a:bodyPr wrap="square" lIns="0" tIns="0" rIns="0" bIns="0" rtlCol="0" anchor="ctr"/>
          <a:lstStyle/>
          <a:p>
            <a:pPr marL="0" indent="0" algn="ctr">
              <a:buNone/>
            </a:pPr>
            <a:r>
              <a:rPr lang="en-US" sz="850" b="1" dirty="0">
                <a:solidFill>
                  <a:srgbClr val="FFFFFF"/>
                </a:solidFill>
              </a:rPr>
              <a:t>2</a:t>
            </a:r>
            <a:endParaRPr lang="en-US" sz="850" dirty="0"/>
          </a:p>
        </p:txBody>
      </p:sp>
      <p:sp>
        <p:nvSpPr>
          <p:cNvPr id="32" name="Text 30"/>
          <p:cNvSpPr/>
          <p:nvPr/>
        </p:nvSpPr>
        <p:spPr>
          <a:xfrm>
            <a:off x="9217152" y="2971800"/>
            <a:ext cx="1645920" cy="347472"/>
          </a:xfrm>
          <a:prstGeom prst="rect">
            <a:avLst/>
          </a:prstGeom>
          <a:noFill/>
          <a:ln/>
        </p:spPr>
        <p:txBody>
          <a:bodyPr wrap="square" lIns="0" tIns="0" rIns="0" bIns="0" rtlCol="0" anchor="ctr">
            <a:normAutofit lnSpcReduction="10000"/>
          </a:bodyPr>
          <a:lstStyle/>
          <a:p>
            <a:pPr marL="0" indent="0">
              <a:buNone/>
            </a:pPr>
            <a:r>
              <a:rPr lang="en-US" sz="1260" b="1" dirty="0">
                <a:solidFill>
                  <a:srgbClr val="111827"/>
                </a:solidFill>
              </a:rPr>
              <a:t>Citations must be exact and auditable.</a:t>
            </a:r>
            <a:endParaRPr lang="en-US" sz="1260" dirty="0"/>
          </a:p>
        </p:txBody>
      </p:sp>
      <p:sp>
        <p:nvSpPr>
          <p:cNvPr id="33" name="Shape 31"/>
          <p:cNvSpPr/>
          <p:nvPr/>
        </p:nvSpPr>
        <p:spPr>
          <a:xfrm>
            <a:off x="8732520" y="3794760"/>
            <a:ext cx="320040" cy="320040"/>
          </a:xfrm>
          <a:prstGeom prst="ellipse">
            <a:avLst/>
          </a:prstGeom>
          <a:solidFill>
            <a:srgbClr val="E59E19"/>
          </a:solidFill>
          <a:ln w="12700">
            <a:solidFill>
              <a:srgbClr val="333333">
                <a:alpha val="0"/>
              </a:srgbClr>
            </a:solidFill>
            <a:prstDash val="solid"/>
          </a:ln>
        </p:spPr>
        <p:txBody>
          <a:bodyPr/>
          <a:lstStyle/>
          <a:p>
            <a:endParaRPr lang="zh-CN" altLang="en-US"/>
          </a:p>
        </p:txBody>
      </p:sp>
      <p:sp>
        <p:nvSpPr>
          <p:cNvPr id="34" name="Text 32"/>
          <p:cNvSpPr/>
          <p:nvPr/>
        </p:nvSpPr>
        <p:spPr>
          <a:xfrm>
            <a:off x="8732520" y="3867912"/>
            <a:ext cx="320040" cy="109728"/>
          </a:xfrm>
          <a:prstGeom prst="rect">
            <a:avLst/>
          </a:prstGeom>
          <a:noFill/>
          <a:ln/>
        </p:spPr>
        <p:txBody>
          <a:bodyPr wrap="square" lIns="0" tIns="0" rIns="0" bIns="0" rtlCol="0" anchor="ctr"/>
          <a:lstStyle/>
          <a:p>
            <a:pPr marL="0" indent="0" algn="ctr">
              <a:buNone/>
            </a:pPr>
            <a:r>
              <a:rPr lang="en-US" sz="850" b="1" dirty="0">
                <a:solidFill>
                  <a:srgbClr val="FFFFFF"/>
                </a:solidFill>
              </a:rPr>
              <a:t>3</a:t>
            </a:r>
            <a:endParaRPr lang="en-US" sz="850" dirty="0"/>
          </a:p>
        </p:txBody>
      </p:sp>
      <p:sp>
        <p:nvSpPr>
          <p:cNvPr id="35" name="Text 33"/>
          <p:cNvSpPr/>
          <p:nvPr/>
        </p:nvSpPr>
        <p:spPr>
          <a:xfrm>
            <a:off x="9217152" y="3749040"/>
            <a:ext cx="1645920" cy="347472"/>
          </a:xfrm>
          <a:prstGeom prst="rect">
            <a:avLst/>
          </a:prstGeom>
          <a:noFill/>
          <a:ln/>
        </p:spPr>
        <p:txBody>
          <a:bodyPr wrap="square" lIns="0" tIns="0" rIns="0" bIns="0" rtlCol="0" anchor="ctr">
            <a:normAutofit lnSpcReduction="10000"/>
          </a:bodyPr>
          <a:lstStyle/>
          <a:p>
            <a:pPr marL="0" indent="0">
              <a:buNone/>
            </a:pPr>
            <a:r>
              <a:rPr lang="en-US" sz="1260" b="1" dirty="0">
                <a:solidFill>
                  <a:srgbClr val="111827"/>
                </a:solidFill>
              </a:rPr>
              <a:t>Refusal is a feature, not a failure.</a:t>
            </a:r>
            <a:endParaRPr lang="en-US" sz="1260" dirty="0"/>
          </a:p>
        </p:txBody>
      </p:sp>
      <p:sp>
        <p:nvSpPr>
          <p:cNvPr id="36" name="Shape 34"/>
          <p:cNvSpPr/>
          <p:nvPr/>
        </p:nvSpPr>
        <p:spPr>
          <a:xfrm>
            <a:off x="8641080" y="4709160"/>
            <a:ext cx="2194560" cy="411480"/>
          </a:xfrm>
          <a:prstGeom prst="roundRect">
            <a:avLst>
              <a:gd name="adj" fmla="val 11111"/>
            </a:avLst>
          </a:prstGeom>
          <a:solidFill>
            <a:srgbClr val="12355B"/>
          </a:solidFill>
          <a:ln w="12700">
            <a:solidFill>
              <a:srgbClr val="333333">
                <a:alpha val="0"/>
              </a:srgbClr>
            </a:solidFill>
            <a:prstDash val="solid"/>
          </a:ln>
        </p:spPr>
        <p:txBody>
          <a:bodyPr/>
          <a:lstStyle/>
          <a:p>
            <a:endParaRPr lang="zh-CN" altLang="en-US"/>
          </a:p>
        </p:txBody>
      </p:sp>
      <p:sp>
        <p:nvSpPr>
          <p:cNvPr id="37" name="Text 35"/>
          <p:cNvSpPr/>
          <p:nvPr/>
        </p:nvSpPr>
        <p:spPr>
          <a:xfrm>
            <a:off x="8641080" y="4837176"/>
            <a:ext cx="2194560" cy="137160"/>
          </a:xfrm>
          <a:prstGeom prst="rect">
            <a:avLst/>
          </a:prstGeom>
          <a:noFill/>
          <a:ln/>
        </p:spPr>
        <p:txBody>
          <a:bodyPr wrap="square" lIns="0" tIns="0" rIns="0" bIns="0" rtlCol="0" anchor="ctr"/>
          <a:lstStyle/>
          <a:p>
            <a:pPr marL="0" indent="0" algn="ctr">
              <a:buNone/>
            </a:pPr>
            <a:r>
              <a:rPr lang="en-US" sz="1250" b="1" dirty="0">
                <a:solidFill>
                  <a:srgbClr val="FFFFFF"/>
                </a:solidFill>
              </a:rPr>
              <a:t>Thank you</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1365</Words>
  <Application>Microsoft Office PowerPoint</Application>
  <PresentationFormat>Widescreen</PresentationFormat>
  <Paragraphs>201</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 Display</vt:lpstr>
      <vt:lpstr>Aptos Mono</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Boston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Section-Scoped RAG over SEC 10-K (2024)</dc:title>
  <dc:subject>AD698 Section-Scoped RAG over SEC 10-K</dc:subject>
  <dc:creator>Annabella Xu</dc:creator>
  <cp:lastModifiedBy>Xu, Annabella</cp:lastModifiedBy>
  <cp:revision>2</cp:revision>
  <dcterms:created xsi:type="dcterms:W3CDTF">2026-05-03T10:40:22Z</dcterms:created>
  <dcterms:modified xsi:type="dcterms:W3CDTF">2026-05-03T10:51:21Z</dcterms:modified>
</cp:coreProperties>
</file>